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Host Grotesk Light"/>
      <p:regular r:id="rId201314"/>
    </p:embeddedFont>
    <p:embeddedFont>
      <p:font typeface="Host Grotesk"/>
      <p:regular r:id="rId201315"/>
    </p:embeddedFont>
    <p:embeddedFont>
      <p:font typeface="Host Grotesk Medium"/>
      <p:regular r:id="rId201316"/>
    </p:embeddedFont>
    <p:embeddedFont>
      <p:font typeface="Host Grotesk SemiBold"/>
      <p:regular r:id="rId201317"/>
    </p:embeddedFont>
    <p:embeddedFont>
      <p:font typeface="Host Grotesk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work as a transformation: raw customer shopping records become a consistent table that can support SQL analysis and Power BI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moves left to right: profile the dataset, clean the fields, engineer useful attributes, validate the result, then publish it to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contains 3,900 customer records and 18 original columns. Together they cover the full shopping journey, from who the customer is to what they bought, how they received it, and how often they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used Pandas inspection and summary methods. The main finding was precise: 37 missing values appeared in Review Rating, while other columns were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addressed the missing ratings with a category-level median, then made the schema easier to work with by standardising names and simplifying purchase_amount_(usd) to purchase_amount.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adds two customer-ready views: four quantile-based age groups and purchase_frequency_days, which converts labels ranging from weekly to annually into numeric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reduced ambiguity before the data reached PostgreSQL. One field was redundant, duplicate rows were absent, and the remaining fields were checked across integer, floating-point, text, and categorical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processed DataFrame connected to Supabase PostgreSQL through SQLAlchemy and psycopg2. SSL-enabled connectivity was tested successfully against PostgreSQL 17.11, establishing the database as the analysis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load contains all 3,900 processed records. The customer table has 19 columns: cleaned originals, age_group, and purchase_frequency_days, with promo_code_used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practical use of the table. It supports revenue comparisons, product discovery, and customer segmentation, including repeat-buyer subscription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619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6191A"/>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1182" y="660400"/>
            <a:ext cx="11378915"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D5D3CC"/>
                </a:solidFill>
                <a:latin typeface="Host Grotesk Medium" pitchFamily="34" charset="0"/>
                <a:ea typeface="Host Grotesk Medium" pitchFamily="34" charset="-122"/>
                <a:cs typeface="Host Grotesk Medium" pitchFamily="34" charset="-120"/>
              </a:rPr>
              <a:t>DATA STORY · CUSTOMER INSIGHT</a:t>
            </a:r>
            <a:endParaRPr lang="en-US" sz="1100" dirty="0"/>
          </a:p>
        </p:txBody>
      </p:sp>
      <p:sp>
        <p:nvSpPr>
          <p:cNvPr id="3" name="Text 1"/>
          <p:cNvSpPr/>
          <p:nvPr/>
        </p:nvSpPr>
        <p:spPr>
          <a:xfrm>
            <a:off x="711182" y="3287062"/>
            <a:ext cx="10769331" cy="2084784"/>
          </a:xfrm>
          <a:prstGeom prst="rect">
            <a:avLst/>
          </a:prstGeom>
          <a:noFill/>
          <a:ln/>
        </p:spPr>
        <p:txBody>
          <a:bodyPr wrap="square" lIns="0" tIns="0" rIns="0" bIns="0" rtlCol="0" anchor="t">
            <a:normAutofit/>
          </a:bodyPr>
          <a:lstStyle/>
          <a:p>
            <a:pPr algn="l" indent="0" marL="0">
              <a:lnSpc>
                <a:spcPct val="90000"/>
              </a:lnSpc>
              <a:buNone/>
            </a:pPr>
            <a:r>
              <a:rPr lang="en-US" sz="7600" spc="-76" kern="100" dirty="0">
                <a:solidFill>
                  <a:srgbClr val="FFFFFF"/>
                </a:solidFill>
                <a:latin typeface="Host Grotesk Light" pitchFamily="34" charset="0"/>
                <a:ea typeface="Host Grotesk Light" pitchFamily="34" charset="-122"/>
                <a:cs typeface="Host Grotesk Light" pitchFamily="34" charset="-120"/>
              </a:rPr>
              <a:t>Customer Behaviour</a:t>
            </a:r>
            <a:endParaRPr lang="en-US" sz="7600" dirty="0"/>
          </a:p>
          <a:p>
            <a:pPr algn="l" indent="0" marL="0">
              <a:lnSpc>
                <a:spcPct val="90000"/>
              </a:lnSpc>
              <a:buNone/>
            </a:pPr>
            <a:r>
              <a:rPr lang="en-US" sz="7600" spc="-76" kern="100" dirty="0">
                <a:solidFill>
                  <a:srgbClr val="FFFFFF"/>
                </a:solidFill>
                <a:latin typeface="Host Grotesk Light" pitchFamily="34" charset="0"/>
                <a:ea typeface="Host Grotesk Light" pitchFamily="34" charset="-122"/>
                <a:cs typeface="Host Grotesk Light" pitchFamily="34" charset="-120"/>
              </a:rPr>
              <a:t>Analysis</a:t>
            </a:r>
            <a:endParaRPr lang="en-US" sz="7600" dirty="0"/>
          </a:p>
        </p:txBody>
      </p:sp>
      <p:sp>
        <p:nvSpPr>
          <p:cNvPr id="4" name="Shape 2"/>
          <p:cNvSpPr/>
          <p:nvPr/>
        </p:nvSpPr>
        <p:spPr>
          <a:xfrm>
            <a:off x="711182" y="5578475"/>
            <a:ext cx="10769331" cy="12601"/>
          </a:xfrm>
          <a:prstGeom prst="roundRect">
            <a:avLst>
              <a:gd name="adj" fmla="val 49998"/>
            </a:avLst>
          </a:prstGeom>
          <a:solidFill>
            <a:srgbClr val="E7E3DA">
              <a:alpha val="24000"/>
            </a:srgbClr>
          </a:solidFill>
          <a:ln/>
        </p:spPr>
      </p:sp>
      <p:sp>
        <p:nvSpPr>
          <p:cNvPr id="5" name="Text 3"/>
          <p:cNvSpPr/>
          <p:nvPr/>
        </p:nvSpPr>
        <p:spPr>
          <a:xfrm>
            <a:off x="711182" y="5853113"/>
            <a:ext cx="11378915" cy="344488"/>
          </a:xfrm>
          <a:prstGeom prst="rect">
            <a:avLst/>
          </a:prstGeom>
          <a:noFill/>
          <a:ln/>
        </p:spPr>
        <p:txBody>
          <a:bodyPr wrap="none" lIns="0" tIns="0" rIns="0" bIns="0" rtlCol="0" anchor="t"/>
          <a:lstStyle/>
          <a:p>
            <a:pPr algn="l" indent="0" marL="0">
              <a:lnSpc>
                <a:spcPct val="129000"/>
              </a:lnSpc>
              <a:buNone/>
            </a:pPr>
            <a:r>
              <a:rPr lang="en-US" sz="1750" dirty="0">
                <a:solidFill>
                  <a:srgbClr val="FFFFFF"/>
                </a:solidFill>
                <a:latin typeface="Host Grotesk" pitchFamily="34" charset="0"/>
                <a:ea typeface="Host Grotesk" pitchFamily="34" charset="-122"/>
                <a:cs typeface="Host Grotesk" pitchFamily="34" charset="-120"/>
              </a:rPr>
              <a:t>From raw shopping data to an analysis-ready table.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THE WORKFLOW</a:t>
            </a:r>
            <a:endParaRPr lang="en-US" sz="1100" dirty="0"/>
          </a:p>
        </p:txBody>
      </p:sp>
      <p:sp>
        <p:nvSpPr>
          <p:cNvPr id="3" name="Text 1"/>
          <p:cNvSpPr/>
          <p:nvPr/>
        </p:nvSpPr>
        <p:spPr>
          <a:xfrm>
            <a:off x="609585" y="986115"/>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From raw shopping data to an analysis-ready table</a:t>
            </a:r>
            <a:endParaRPr lang="en-US" sz="3000" dirty="0"/>
          </a:p>
        </p:txBody>
      </p:sp>
      <p:sp>
        <p:nvSpPr>
          <p:cNvPr id="4" name="Shape 2"/>
          <p:cNvSpPr/>
          <p:nvPr/>
        </p:nvSpPr>
        <p:spPr>
          <a:xfrm>
            <a:off x="609585" y="1670248"/>
            <a:ext cx="10972526" cy="12601"/>
          </a:xfrm>
          <a:prstGeom prst="roundRect">
            <a:avLst>
              <a:gd name="adj" fmla="val 49998"/>
            </a:avLst>
          </a:prstGeom>
          <a:solidFill>
            <a:srgbClr val="E7E3DA">
              <a:alpha val="24000"/>
            </a:srgbClr>
          </a:solidFill>
          <a:ln/>
        </p:spPr>
      </p:sp>
      <p:sp>
        <p:nvSpPr>
          <p:cNvPr id="5" name="Text 3"/>
          <p:cNvSpPr/>
          <p:nvPr/>
        </p:nvSpPr>
        <p:spPr>
          <a:xfrm>
            <a:off x="609585" y="1944886"/>
            <a:ext cx="6603835"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Prepare, validate, and load customer shopping behaviour data for SQL analysis and Power BI reporting.</a:t>
            </a:r>
            <a:endParaRPr lang="en-US" sz="1500" dirty="0"/>
          </a:p>
        </p:txBody>
      </p:sp>
      <p:sp>
        <p:nvSpPr>
          <p:cNvPr id="6" name="Text 4"/>
          <p:cNvSpPr/>
          <p:nvPr/>
        </p:nvSpPr>
        <p:spPr>
          <a:xfrm>
            <a:off x="609585" y="4607024"/>
            <a:ext cx="857229" cy="190500"/>
          </a:xfrm>
          <a:prstGeom prst="rect">
            <a:avLst/>
          </a:prstGeom>
          <a:noFill/>
          <a:ln/>
        </p:spPr>
        <p:txBody>
          <a:bodyPr wrap="none" lIns="0" tIns="0" rIns="0" bIns="0" rtlCol="0" anchor="t"/>
          <a:lstStyle/>
          <a:p>
            <a:pPr algn="l" indent="0" marL="0">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01</a:t>
            </a:r>
            <a:endParaRPr lang="en-US" sz="1500" dirty="0"/>
          </a:p>
        </p:txBody>
      </p:sp>
      <p:sp>
        <p:nvSpPr>
          <p:cNvPr id="7" name="Shape 5"/>
          <p:cNvSpPr/>
          <p:nvPr/>
        </p:nvSpPr>
        <p:spPr>
          <a:xfrm>
            <a:off x="609585" y="4873724"/>
            <a:ext cx="1950592" cy="19050"/>
          </a:xfrm>
          <a:prstGeom prst="rect">
            <a:avLst/>
          </a:prstGeom>
          <a:solidFill>
            <a:srgbClr val="7D817E"/>
          </a:solidFill>
          <a:ln/>
        </p:spPr>
      </p:sp>
      <p:sp>
        <p:nvSpPr>
          <p:cNvPr id="8" name="Text 6"/>
          <p:cNvSpPr/>
          <p:nvPr/>
        </p:nvSpPr>
        <p:spPr>
          <a:xfrm>
            <a:off x="609585" y="5007709"/>
            <a:ext cx="1950691"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Profile</a:t>
            </a:r>
            <a:endParaRPr lang="en-US" sz="1700" dirty="0"/>
          </a:p>
        </p:txBody>
      </p:sp>
      <p:sp>
        <p:nvSpPr>
          <p:cNvPr id="9" name="Text 7"/>
          <p:cNvSpPr/>
          <p:nvPr/>
        </p:nvSpPr>
        <p:spPr>
          <a:xfrm>
            <a:off x="609585" y="5480745"/>
            <a:ext cx="1950691" cy="767655"/>
          </a:xfrm>
          <a:prstGeom prst="rect">
            <a:avLst/>
          </a:prstGeom>
          <a:noFill/>
          <a:ln/>
        </p:spPr>
        <p:txBody>
          <a:bodyPr wrap="square" lIns="0" tIns="0" rIns="0" bIns="0" rtlCol="0" anchor="t">
            <a:normAutofit/>
          </a:bodyPr>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Understand records, types, distributions, and completeness.</a:t>
            </a:r>
            <a:endParaRPr lang="en-US" sz="1300" dirty="0"/>
          </a:p>
        </p:txBody>
      </p:sp>
      <p:sp>
        <p:nvSpPr>
          <p:cNvPr id="10" name="Text 8"/>
          <p:cNvSpPr/>
          <p:nvPr/>
        </p:nvSpPr>
        <p:spPr>
          <a:xfrm>
            <a:off x="2864969" y="4607024"/>
            <a:ext cx="857229" cy="190500"/>
          </a:xfrm>
          <a:prstGeom prst="rect">
            <a:avLst/>
          </a:prstGeom>
          <a:noFill/>
          <a:ln/>
        </p:spPr>
        <p:txBody>
          <a:bodyPr wrap="none" lIns="0" tIns="0" rIns="0" bIns="0" rtlCol="0" anchor="t"/>
          <a:lstStyle/>
          <a:p>
            <a:pPr algn="l" indent="0" marL="0">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02</a:t>
            </a:r>
            <a:endParaRPr lang="en-US" sz="1500" dirty="0"/>
          </a:p>
        </p:txBody>
      </p:sp>
      <p:sp>
        <p:nvSpPr>
          <p:cNvPr id="11" name="Shape 9"/>
          <p:cNvSpPr/>
          <p:nvPr/>
        </p:nvSpPr>
        <p:spPr>
          <a:xfrm>
            <a:off x="2864969" y="4873724"/>
            <a:ext cx="1950592" cy="19050"/>
          </a:xfrm>
          <a:prstGeom prst="rect">
            <a:avLst/>
          </a:prstGeom>
          <a:solidFill>
            <a:srgbClr val="7D817E"/>
          </a:solidFill>
          <a:ln/>
        </p:spPr>
      </p:sp>
      <p:sp>
        <p:nvSpPr>
          <p:cNvPr id="12" name="Text 10"/>
          <p:cNvSpPr/>
          <p:nvPr/>
        </p:nvSpPr>
        <p:spPr>
          <a:xfrm>
            <a:off x="2864969" y="5007709"/>
            <a:ext cx="1950691"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Clean</a:t>
            </a:r>
            <a:endParaRPr lang="en-US" sz="1700" dirty="0"/>
          </a:p>
        </p:txBody>
      </p:sp>
      <p:sp>
        <p:nvSpPr>
          <p:cNvPr id="13" name="Text 11"/>
          <p:cNvSpPr/>
          <p:nvPr/>
        </p:nvSpPr>
        <p:spPr>
          <a:xfrm>
            <a:off x="2864969" y="5480745"/>
            <a:ext cx="1950691" cy="511770"/>
          </a:xfrm>
          <a:prstGeom prst="rect">
            <a:avLst/>
          </a:prstGeom>
          <a:noFill/>
          <a:ln/>
        </p:spPr>
        <p:txBody>
          <a:bodyPr wrap="square" lIns="0" tIns="0" rIns="0" bIns="0" rtlCol="0" anchor="t">
            <a:normAutofit/>
          </a:bodyPr>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Make fields consistent and usable.</a:t>
            </a:r>
            <a:endParaRPr lang="en-US" sz="1300" dirty="0"/>
          </a:p>
        </p:txBody>
      </p:sp>
      <p:sp>
        <p:nvSpPr>
          <p:cNvPr id="14" name="Text 12"/>
          <p:cNvSpPr/>
          <p:nvPr/>
        </p:nvSpPr>
        <p:spPr>
          <a:xfrm>
            <a:off x="5120353" y="4607024"/>
            <a:ext cx="857229" cy="190500"/>
          </a:xfrm>
          <a:prstGeom prst="rect">
            <a:avLst/>
          </a:prstGeom>
          <a:noFill/>
          <a:ln/>
        </p:spPr>
        <p:txBody>
          <a:bodyPr wrap="none" lIns="0" tIns="0" rIns="0" bIns="0" rtlCol="0" anchor="t"/>
          <a:lstStyle/>
          <a:p>
            <a:pPr algn="l" indent="0" marL="0">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03</a:t>
            </a:r>
            <a:endParaRPr lang="en-US" sz="1500" dirty="0"/>
          </a:p>
        </p:txBody>
      </p:sp>
      <p:sp>
        <p:nvSpPr>
          <p:cNvPr id="15" name="Shape 13"/>
          <p:cNvSpPr/>
          <p:nvPr/>
        </p:nvSpPr>
        <p:spPr>
          <a:xfrm>
            <a:off x="5120353" y="4873724"/>
            <a:ext cx="1950889" cy="19050"/>
          </a:xfrm>
          <a:prstGeom prst="rect">
            <a:avLst/>
          </a:prstGeom>
          <a:solidFill>
            <a:srgbClr val="7D817E"/>
          </a:solidFill>
          <a:ln/>
        </p:spPr>
      </p:sp>
      <p:sp>
        <p:nvSpPr>
          <p:cNvPr id="16" name="Text 14"/>
          <p:cNvSpPr/>
          <p:nvPr/>
        </p:nvSpPr>
        <p:spPr>
          <a:xfrm>
            <a:off x="5120353" y="5007709"/>
            <a:ext cx="1950889"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Engineer</a:t>
            </a:r>
            <a:endParaRPr lang="en-US" sz="1700" dirty="0"/>
          </a:p>
        </p:txBody>
      </p:sp>
      <p:sp>
        <p:nvSpPr>
          <p:cNvPr id="17" name="Text 15"/>
          <p:cNvSpPr/>
          <p:nvPr/>
        </p:nvSpPr>
        <p:spPr>
          <a:xfrm>
            <a:off x="5120353" y="5480745"/>
            <a:ext cx="1950889" cy="511770"/>
          </a:xfrm>
          <a:prstGeom prst="rect">
            <a:avLst/>
          </a:prstGeom>
          <a:noFill/>
          <a:ln/>
        </p:spPr>
        <p:txBody>
          <a:bodyPr wrap="square" lIns="0" tIns="0" rIns="0" bIns="0" rtlCol="0" anchor="t">
            <a:normAutofit/>
          </a:bodyPr>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Add useful customer-ready attributes.</a:t>
            </a:r>
            <a:endParaRPr lang="en-US" sz="1300" dirty="0"/>
          </a:p>
        </p:txBody>
      </p:sp>
      <p:sp>
        <p:nvSpPr>
          <p:cNvPr id="18" name="Text 16"/>
          <p:cNvSpPr/>
          <p:nvPr/>
        </p:nvSpPr>
        <p:spPr>
          <a:xfrm>
            <a:off x="7375936" y="4607024"/>
            <a:ext cx="857229" cy="190500"/>
          </a:xfrm>
          <a:prstGeom prst="rect">
            <a:avLst/>
          </a:prstGeom>
          <a:noFill/>
          <a:ln/>
        </p:spPr>
        <p:txBody>
          <a:bodyPr wrap="none" lIns="0" tIns="0" rIns="0" bIns="0" rtlCol="0" anchor="t"/>
          <a:lstStyle/>
          <a:p>
            <a:pPr algn="l" indent="0" marL="0">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04</a:t>
            </a:r>
            <a:endParaRPr lang="en-US" sz="1500" dirty="0"/>
          </a:p>
        </p:txBody>
      </p:sp>
      <p:sp>
        <p:nvSpPr>
          <p:cNvPr id="19" name="Shape 17"/>
          <p:cNvSpPr/>
          <p:nvPr/>
        </p:nvSpPr>
        <p:spPr>
          <a:xfrm>
            <a:off x="7375936" y="4873724"/>
            <a:ext cx="1950592" cy="19050"/>
          </a:xfrm>
          <a:prstGeom prst="rect">
            <a:avLst/>
          </a:prstGeom>
          <a:solidFill>
            <a:srgbClr val="7D817E"/>
          </a:solidFill>
          <a:ln/>
        </p:spPr>
      </p:sp>
      <p:sp>
        <p:nvSpPr>
          <p:cNvPr id="20" name="Text 18"/>
          <p:cNvSpPr/>
          <p:nvPr/>
        </p:nvSpPr>
        <p:spPr>
          <a:xfrm>
            <a:off x="7375936" y="5007709"/>
            <a:ext cx="1950691"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Validate</a:t>
            </a:r>
            <a:endParaRPr lang="en-US" sz="1700" dirty="0"/>
          </a:p>
        </p:txBody>
      </p:sp>
      <p:sp>
        <p:nvSpPr>
          <p:cNvPr id="21" name="Text 19"/>
          <p:cNvSpPr/>
          <p:nvPr/>
        </p:nvSpPr>
        <p:spPr>
          <a:xfrm>
            <a:off x="7375936" y="5480745"/>
            <a:ext cx="1950691" cy="511770"/>
          </a:xfrm>
          <a:prstGeom prst="rect">
            <a:avLst/>
          </a:prstGeom>
          <a:noFill/>
          <a:ln/>
        </p:spPr>
        <p:txBody>
          <a:bodyPr wrap="square" lIns="0" tIns="0" rIns="0" bIns="0" rtlCol="0" anchor="t">
            <a:normAutofit/>
          </a:bodyPr>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Remove redundancy and check the result.</a:t>
            </a:r>
            <a:endParaRPr lang="en-US" sz="1300" dirty="0"/>
          </a:p>
        </p:txBody>
      </p:sp>
      <p:sp>
        <p:nvSpPr>
          <p:cNvPr id="22" name="Text 20"/>
          <p:cNvSpPr/>
          <p:nvPr/>
        </p:nvSpPr>
        <p:spPr>
          <a:xfrm>
            <a:off x="9631320" y="4607024"/>
            <a:ext cx="857229" cy="190500"/>
          </a:xfrm>
          <a:prstGeom prst="rect">
            <a:avLst/>
          </a:prstGeom>
          <a:noFill/>
          <a:ln/>
        </p:spPr>
        <p:txBody>
          <a:bodyPr wrap="none" lIns="0" tIns="0" rIns="0" bIns="0" rtlCol="0" anchor="t"/>
          <a:lstStyle/>
          <a:p>
            <a:pPr algn="l" indent="0" marL="0">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05</a:t>
            </a:r>
            <a:endParaRPr lang="en-US" sz="1500" dirty="0"/>
          </a:p>
        </p:txBody>
      </p:sp>
      <p:sp>
        <p:nvSpPr>
          <p:cNvPr id="23" name="Shape 21"/>
          <p:cNvSpPr/>
          <p:nvPr/>
        </p:nvSpPr>
        <p:spPr>
          <a:xfrm>
            <a:off x="9631320" y="4873724"/>
            <a:ext cx="1950691" cy="19050"/>
          </a:xfrm>
          <a:prstGeom prst="rect">
            <a:avLst/>
          </a:prstGeom>
          <a:solidFill>
            <a:srgbClr val="7D817E"/>
          </a:solidFill>
          <a:ln/>
        </p:spPr>
      </p:sp>
      <p:sp>
        <p:nvSpPr>
          <p:cNvPr id="24" name="Text 22"/>
          <p:cNvSpPr/>
          <p:nvPr/>
        </p:nvSpPr>
        <p:spPr>
          <a:xfrm>
            <a:off x="9631320" y="5007709"/>
            <a:ext cx="1950790"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Publish</a:t>
            </a:r>
            <a:endParaRPr lang="en-US" sz="1700" dirty="0"/>
          </a:p>
        </p:txBody>
      </p:sp>
      <p:sp>
        <p:nvSpPr>
          <p:cNvPr id="25" name="Text 23"/>
          <p:cNvSpPr/>
          <p:nvPr/>
        </p:nvSpPr>
        <p:spPr>
          <a:xfrm>
            <a:off x="9631320" y="5480745"/>
            <a:ext cx="1950790" cy="511770"/>
          </a:xfrm>
          <a:prstGeom prst="rect">
            <a:avLst/>
          </a:prstGeom>
          <a:noFill/>
          <a:ln/>
        </p:spPr>
        <p:txBody>
          <a:bodyPr wrap="square" lIns="0" tIns="0" rIns="0" bIns="0" rtlCol="0" anchor="t">
            <a:normAutofit/>
          </a:bodyPr>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Load the processed data to PostgreSQL.</a:t>
            </a:r>
            <a:endParaRPr lang="en-US" sz="1300" dirty="0"/>
          </a:p>
        </p:txBody>
      </p:sp>
      <p:sp>
        <p:nvSpPr>
          <p:cNvPr id="26" name="Text 24"/>
          <p:cNvSpPr/>
          <p:nvPr/>
        </p:nvSpPr>
        <p:spPr>
          <a:xfrm>
            <a:off x="11827571" y="6449814"/>
            <a:ext cx="364124"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SOURCE DATA</a:t>
            </a:r>
            <a:endParaRPr lang="en-US" sz="1100" dirty="0"/>
          </a:p>
        </p:txBody>
      </p:sp>
      <p:sp>
        <p:nvSpPr>
          <p:cNvPr id="3" name="Text 1"/>
          <p:cNvSpPr/>
          <p:nvPr/>
        </p:nvSpPr>
        <p:spPr>
          <a:xfrm>
            <a:off x="609585" y="986115"/>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The dataset captures the full shopping journey</a:t>
            </a:r>
            <a:endParaRPr lang="en-US" sz="3000" dirty="0"/>
          </a:p>
        </p:txBody>
      </p:sp>
      <p:sp>
        <p:nvSpPr>
          <p:cNvPr id="4" name="Shape 2"/>
          <p:cNvSpPr/>
          <p:nvPr/>
        </p:nvSpPr>
        <p:spPr>
          <a:xfrm>
            <a:off x="609585" y="1670248"/>
            <a:ext cx="10972526" cy="12601"/>
          </a:xfrm>
          <a:prstGeom prst="roundRect">
            <a:avLst>
              <a:gd name="adj" fmla="val 49998"/>
            </a:avLst>
          </a:prstGeom>
          <a:solidFill>
            <a:srgbClr val="E7E3DA">
              <a:alpha val="24000"/>
            </a:srgbClr>
          </a:solidFill>
          <a:ln/>
        </p:spPr>
      </p:sp>
      <p:sp>
        <p:nvSpPr>
          <p:cNvPr id="5" name="Text 3"/>
          <p:cNvSpPr/>
          <p:nvPr/>
        </p:nvSpPr>
        <p:spPr>
          <a:xfrm>
            <a:off x="609585" y="3051020"/>
            <a:ext cx="4206075" cy="1042392"/>
          </a:xfrm>
          <a:prstGeom prst="rect">
            <a:avLst/>
          </a:prstGeom>
          <a:noFill/>
          <a:ln/>
        </p:spPr>
        <p:txBody>
          <a:bodyPr wrap="none" lIns="0" tIns="0" rIns="0" bIns="0" rtlCol="0" anchor="t"/>
          <a:lstStyle/>
          <a:p>
            <a:pPr algn="l" indent="0" marL="0">
              <a:lnSpc>
                <a:spcPct val="90000"/>
              </a:lnSpc>
              <a:buNone/>
            </a:pPr>
            <a:r>
              <a:rPr lang="en-US" sz="7600" spc="-76" kern="100" dirty="0">
                <a:solidFill>
                  <a:srgbClr val="E7E3DA"/>
                </a:solidFill>
                <a:latin typeface="Host Grotesk Light" pitchFamily="34" charset="0"/>
                <a:ea typeface="Host Grotesk Light" pitchFamily="34" charset="-122"/>
                <a:cs typeface="Host Grotesk Light" pitchFamily="34" charset="-120"/>
              </a:rPr>
              <a:t>3,900</a:t>
            </a:r>
            <a:endParaRPr lang="en-US" sz="7600" dirty="0"/>
          </a:p>
        </p:txBody>
      </p:sp>
      <p:sp>
        <p:nvSpPr>
          <p:cNvPr id="6" name="Text 4"/>
          <p:cNvSpPr/>
          <p:nvPr/>
        </p:nvSpPr>
        <p:spPr>
          <a:xfrm>
            <a:off x="609585" y="4156214"/>
            <a:ext cx="4206075"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customer records</a:t>
            </a:r>
            <a:endParaRPr lang="en-US" sz="1700" dirty="0"/>
          </a:p>
        </p:txBody>
      </p:sp>
      <p:sp>
        <p:nvSpPr>
          <p:cNvPr id="7" name="Text 5"/>
          <p:cNvSpPr/>
          <p:nvPr/>
        </p:nvSpPr>
        <p:spPr>
          <a:xfrm>
            <a:off x="609585" y="4629249"/>
            <a:ext cx="4206075"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Across demographics, products, purchases, preferences, and shopping patterns.</a:t>
            </a:r>
            <a:endParaRPr lang="en-US" sz="1500" dirty="0"/>
          </a:p>
        </p:txBody>
      </p:sp>
      <p:pic>
        <p:nvPicPr>
          <p:cNvPr id="8" name="Image 0" descr="preencoded.png">    </p:cNvPr>
          <p:cNvPicPr>
            <a:picLocks noChangeAspect="1"/>
          </p:cNvPicPr>
          <p:nvPr/>
        </p:nvPicPr>
        <p:blipFill>
          <a:blip r:embed="rId1"/>
          <a:stretch>
            <a:fillRect/>
          </a:stretch>
        </p:blipFill>
        <p:spPr>
          <a:xfrm>
            <a:off x="5272749" y="2417167"/>
            <a:ext cx="476238" cy="476250"/>
          </a:xfrm>
          <a:prstGeom prst="rect">
            <a:avLst/>
          </a:prstGeom>
        </p:spPr>
      </p:pic>
      <p:sp>
        <p:nvSpPr>
          <p:cNvPr id="9" name="Text 6"/>
          <p:cNvSpPr/>
          <p:nvPr/>
        </p:nvSpPr>
        <p:spPr>
          <a:xfrm>
            <a:off x="5272749" y="3033752"/>
            <a:ext cx="3002284"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Demographics</a:t>
            </a:r>
            <a:endParaRPr lang="en-US" sz="1700" dirty="0"/>
          </a:p>
        </p:txBody>
      </p:sp>
      <p:sp>
        <p:nvSpPr>
          <p:cNvPr id="10" name="Text 7"/>
          <p:cNvSpPr/>
          <p:nvPr/>
        </p:nvSpPr>
        <p:spPr>
          <a:xfrm>
            <a:off x="5272749" y="3506788"/>
            <a:ext cx="3002284" cy="255885"/>
          </a:xfrm>
          <a:prstGeom prst="rect">
            <a:avLst/>
          </a:prstGeom>
          <a:noFill/>
          <a:ln/>
        </p:spPr>
        <p:txBody>
          <a:bodyPr wrap="none" lIns="0" tIns="0" rIns="0" bIns="0" rtlCol="0" anchor="t"/>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Age, gender, and location.</a:t>
            </a:r>
            <a:endParaRPr lang="en-US" sz="1300" dirty="0"/>
          </a:p>
        </p:txBody>
      </p:sp>
      <p:pic>
        <p:nvPicPr>
          <p:cNvPr id="11" name="Image 1" descr="preencoded.png">    </p:cNvPr>
          <p:cNvPicPr>
            <a:picLocks noChangeAspect="1"/>
          </p:cNvPicPr>
          <p:nvPr/>
        </p:nvPicPr>
        <p:blipFill>
          <a:blip r:embed="rId2"/>
          <a:stretch>
            <a:fillRect/>
          </a:stretch>
        </p:blipFill>
        <p:spPr>
          <a:xfrm>
            <a:off x="8579826" y="2417167"/>
            <a:ext cx="476238" cy="476250"/>
          </a:xfrm>
          <a:prstGeom prst="rect">
            <a:avLst/>
          </a:prstGeom>
        </p:spPr>
      </p:pic>
      <p:sp>
        <p:nvSpPr>
          <p:cNvPr id="12" name="Text 8"/>
          <p:cNvSpPr/>
          <p:nvPr/>
        </p:nvSpPr>
        <p:spPr>
          <a:xfrm>
            <a:off x="8579826" y="3033752"/>
            <a:ext cx="3002284"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Purchases</a:t>
            </a:r>
            <a:endParaRPr lang="en-US" sz="1700" dirty="0"/>
          </a:p>
        </p:txBody>
      </p:sp>
      <p:sp>
        <p:nvSpPr>
          <p:cNvPr id="13" name="Text 9"/>
          <p:cNvSpPr/>
          <p:nvPr/>
        </p:nvSpPr>
        <p:spPr>
          <a:xfrm>
            <a:off x="8579826" y="3506788"/>
            <a:ext cx="3002284" cy="255885"/>
          </a:xfrm>
          <a:prstGeom prst="rect">
            <a:avLst/>
          </a:prstGeom>
          <a:noFill/>
          <a:ln/>
        </p:spPr>
        <p:txBody>
          <a:bodyPr wrap="none" lIns="0" tIns="0" rIns="0" bIns="0" rtlCol="0" anchor="t"/>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Category, amount, season, and ratings.</a:t>
            </a:r>
            <a:endParaRPr lang="en-US" sz="1300" dirty="0"/>
          </a:p>
        </p:txBody>
      </p:sp>
      <p:pic>
        <p:nvPicPr>
          <p:cNvPr id="14" name="Image 2" descr="preencoded.png">    </p:cNvPr>
          <p:cNvPicPr>
            <a:picLocks noChangeAspect="1"/>
          </p:cNvPicPr>
          <p:nvPr/>
        </p:nvPicPr>
        <p:blipFill>
          <a:blip r:embed="rId3"/>
          <a:stretch>
            <a:fillRect/>
          </a:stretch>
        </p:blipFill>
        <p:spPr>
          <a:xfrm>
            <a:off x="5272749" y="4067473"/>
            <a:ext cx="476238" cy="476250"/>
          </a:xfrm>
          <a:prstGeom prst="rect">
            <a:avLst/>
          </a:prstGeom>
        </p:spPr>
      </p:pic>
      <p:sp>
        <p:nvSpPr>
          <p:cNvPr id="15" name="Text 10"/>
          <p:cNvSpPr/>
          <p:nvPr/>
        </p:nvSpPr>
        <p:spPr>
          <a:xfrm>
            <a:off x="5272749" y="4684058"/>
            <a:ext cx="3002284"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Fulfilment</a:t>
            </a:r>
            <a:endParaRPr lang="en-US" sz="1700" dirty="0"/>
          </a:p>
        </p:txBody>
      </p:sp>
      <p:sp>
        <p:nvSpPr>
          <p:cNvPr id="16" name="Text 11"/>
          <p:cNvSpPr/>
          <p:nvPr/>
        </p:nvSpPr>
        <p:spPr>
          <a:xfrm>
            <a:off x="5272749" y="5157093"/>
            <a:ext cx="3002284" cy="255885"/>
          </a:xfrm>
          <a:prstGeom prst="rect">
            <a:avLst/>
          </a:prstGeom>
          <a:noFill/>
          <a:ln/>
        </p:spPr>
        <p:txBody>
          <a:bodyPr wrap="none" lIns="0" tIns="0" rIns="0" bIns="0" rtlCol="0" anchor="t"/>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Shipping, discounts, and subscriptions.</a:t>
            </a:r>
            <a:endParaRPr lang="en-US" sz="1300" dirty="0"/>
          </a:p>
        </p:txBody>
      </p:sp>
      <p:pic>
        <p:nvPicPr>
          <p:cNvPr id="17" name="Image 3" descr="preencoded.png">    </p:cNvPr>
          <p:cNvPicPr>
            <a:picLocks noChangeAspect="1"/>
          </p:cNvPicPr>
          <p:nvPr/>
        </p:nvPicPr>
        <p:blipFill>
          <a:blip r:embed="rId4"/>
          <a:stretch>
            <a:fillRect/>
          </a:stretch>
        </p:blipFill>
        <p:spPr>
          <a:xfrm>
            <a:off x="8579826" y="4067473"/>
            <a:ext cx="476238" cy="476250"/>
          </a:xfrm>
          <a:prstGeom prst="rect">
            <a:avLst/>
          </a:prstGeom>
        </p:spPr>
      </p:pic>
      <p:sp>
        <p:nvSpPr>
          <p:cNvPr id="18" name="Text 12"/>
          <p:cNvSpPr/>
          <p:nvPr/>
        </p:nvSpPr>
        <p:spPr>
          <a:xfrm>
            <a:off x="8579826" y="4684058"/>
            <a:ext cx="3002284"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Patterns</a:t>
            </a:r>
            <a:endParaRPr lang="en-US" sz="1700" dirty="0"/>
          </a:p>
        </p:txBody>
      </p:sp>
      <p:sp>
        <p:nvSpPr>
          <p:cNvPr id="19" name="Text 13"/>
          <p:cNvSpPr/>
          <p:nvPr/>
        </p:nvSpPr>
        <p:spPr>
          <a:xfrm>
            <a:off x="8579826" y="5157093"/>
            <a:ext cx="3002284" cy="255885"/>
          </a:xfrm>
          <a:prstGeom prst="rect">
            <a:avLst/>
          </a:prstGeom>
          <a:noFill/>
          <a:ln/>
        </p:spPr>
        <p:txBody>
          <a:bodyPr wrap="none" lIns="0" tIns="0" rIns="0" bIns="0" rtlCol="0" anchor="t"/>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Purchase history and frequency.</a:t>
            </a:r>
            <a:endParaRPr lang="en-US" sz="1300" dirty="0"/>
          </a:p>
        </p:txBody>
      </p:sp>
      <p:sp>
        <p:nvSpPr>
          <p:cNvPr id="20" name="Text 14"/>
          <p:cNvSpPr/>
          <p:nvPr/>
        </p:nvSpPr>
        <p:spPr>
          <a:xfrm>
            <a:off x="5272749" y="5552678"/>
            <a:ext cx="6309361" cy="223441"/>
          </a:xfrm>
          <a:prstGeom prst="rect">
            <a:avLst/>
          </a:prstGeom>
          <a:noFill/>
          <a:ln/>
        </p:spPr>
        <p:txBody>
          <a:bodyPr wrap="none" lIns="0" tIns="0" rIns="0" bIns="0" rtlCol="0" anchor="t"/>
          <a:lstStyle/>
          <a:p>
            <a:pPr algn="l" indent="0" marL="0">
              <a:lnSpc>
                <a:spcPct val="133000"/>
              </a:lnSpc>
              <a:buNone/>
            </a:pPr>
            <a:r>
              <a:rPr lang="en-US" sz="1100" spc="22" kern="100" dirty="0">
                <a:solidFill>
                  <a:srgbClr val="A4A6A2"/>
                </a:solidFill>
                <a:latin typeface="Host Grotesk" pitchFamily="34" charset="0"/>
                <a:ea typeface="Host Grotesk" pitchFamily="34" charset="-122"/>
                <a:cs typeface="Host Grotesk" pitchFamily="34" charset="-120"/>
              </a:rPr>
              <a:t>18 original columns</a:t>
            </a:r>
            <a:endParaRPr lang="en-US" sz="1100" dirty="0"/>
          </a:p>
        </p:txBody>
      </p:sp>
      <p:sp>
        <p:nvSpPr>
          <p:cNvPr id="21" name="Text 15"/>
          <p:cNvSpPr/>
          <p:nvPr/>
        </p:nvSpPr>
        <p:spPr>
          <a:xfrm>
            <a:off x="11827571" y="6449814"/>
            <a:ext cx="364124"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DATA PROFILING</a:t>
            </a:r>
            <a:endParaRPr lang="en-US" sz="1100" dirty="0"/>
          </a:p>
        </p:txBody>
      </p:sp>
      <p:sp>
        <p:nvSpPr>
          <p:cNvPr id="3" name="Text 1"/>
          <p:cNvSpPr/>
          <p:nvPr/>
        </p:nvSpPr>
        <p:spPr>
          <a:xfrm>
            <a:off x="609585" y="986115"/>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Profiling found one focused data-quality issue</a:t>
            </a:r>
            <a:endParaRPr lang="en-US" sz="3000" dirty="0"/>
          </a:p>
        </p:txBody>
      </p:sp>
      <p:sp>
        <p:nvSpPr>
          <p:cNvPr id="4" name="Shape 2"/>
          <p:cNvSpPr/>
          <p:nvPr/>
        </p:nvSpPr>
        <p:spPr>
          <a:xfrm>
            <a:off x="609585" y="1670248"/>
            <a:ext cx="10972526" cy="12601"/>
          </a:xfrm>
          <a:prstGeom prst="roundRect">
            <a:avLst>
              <a:gd name="adj" fmla="val 49998"/>
            </a:avLst>
          </a:prstGeom>
          <a:solidFill>
            <a:srgbClr val="E7E3DA">
              <a:alpha val="24000"/>
            </a:srgbClr>
          </a:solidFill>
          <a:ln/>
        </p:spPr>
      </p:sp>
      <p:sp>
        <p:nvSpPr>
          <p:cNvPr id="5" name="Text 3"/>
          <p:cNvSpPr/>
          <p:nvPr/>
        </p:nvSpPr>
        <p:spPr>
          <a:xfrm>
            <a:off x="609585" y="2881233"/>
            <a:ext cx="5958631" cy="1783060"/>
          </a:xfrm>
          <a:prstGeom prst="rect">
            <a:avLst/>
          </a:prstGeom>
          <a:noFill/>
          <a:ln/>
        </p:spPr>
        <p:txBody>
          <a:bodyPr wrap="none" lIns="0" tIns="0" rIns="0" bIns="0" rtlCol="0" anchor="t"/>
          <a:lstStyle/>
          <a:p>
            <a:pPr algn="l" indent="0" marL="0">
              <a:lnSpc>
                <a:spcPct val="90000"/>
              </a:lnSpc>
              <a:buNone/>
            </a:pPr>
            <a:r>
              <a:rPr lang="en-US" sz="13000" spc="-130" kern="100" dirty="0">
                <a:solidFill>
                  <a:srgbClr val="D87346"/>
                </a:solidFill>
                <a:latin typeface="Host Grotesk Light" pitchFamily="34" charset="0"/>
                <a:ea typeface="Host Grotesk Light" pitchFamily="34" charset="-122"/>
                <a:cs typeface="Host Grotesk Light" pitchFamily="34" charset="-120"/>
              </a:rPr>
              <a:t>37</a:t>
            </a:r>
            <a:endParaRPr lang="en-US" sz="13000" dirty="0"/>
          </a:p>
        </p:txBody>
      </p:sp>
      <p:sp>
        <p:nvSpPr>
          <p:cNvPr id="6" name="Text 4"/>
          <p:cNvSpPr/>
          <p:nvPr/>
        </p:nvSpPr>
        <p:spPr>
          <a:xfrm>
            <a:off x="609585" y="4674136"/>
            <a:ext cx="5958631"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missing values in Review Rating</a:t>
            </a:r>
            <a:endParaRPr lang="en-US" sz="1700" dirty="0"/>
          </a:p>
        </p:txBody>
      </p:sp>
      <p:sp>
        <p:nvSpPr>
          <p:cNvPr id="7" name="Text 5"/>
          <p:cNvSpPr/>
          <p:nvPr/>
        </p:nvSpPr>
        <p:spPr>
          <a:xfrm>
            <a:off x="609585" y="5147171"/>
            <a:ext cx="5958631" cy="295275"/>
          </a:xfrm>
          <a:prstGeom prst="rect">
            <a:avLst/>
          </a:prstGeom>
          <a:noFill/>
          <a:ln/>
        </p:spPr>
        <p:txBody>
          <a:bodyPr wrap="none" lIns="0" tIns="0" rIns="0" bIns="0" rtlCol="0" anchor="t"/>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Other columns were complete.</a:t>
            </a:r>
            <a:endParaRPr lang="en-US" sz="1500" dirty="0"/>
          </a:p>
        </p:txBody>
      </p:sp>
      <p:sp>
        <p:nvSpPr>
          <p:cNvPr id="8" name="Shape 6"/>
          <p:cNvSpPr/>
          <p:nvPr/>
        </p:nvSpPr>
        <p:spPr>
          <a:xfrm>
            <a:off x="7025305" y="2533650"/>
            <a:ext cx="2126006" cy="3125887"/>
          </a:xfrm>
          <a:prstGeom prst="rect">
            <a:avLst/>
          </a:prstGeom>
          <a:solidFill>
            <a:srgbClr val="D5D3CC"/>
          </a:solidFill>
          <a:ln/>
        </p:spPr>
      </p:sp>
      <p:sp>
        <p:nvSpPr>
          <p:cNvPr id="9" name="Text 7"/>
          <p:cNvSpPr/>
          <p:nvPr/>
        </p:nvSpPr>
        <p:spPr>
          <a:xfrm>
            <a:off x="7330098" y="2813685"/>
            <a:ext cx="1516421"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25292A"/>
                </a:solidFill>
                <a:latin typeface="Host Grotesk Medium" pitchFamily="34" charset="0"/>
                <a:ea typeface="Host Grotesk Medium" pitchFamily="34" charset="-122"/>
                <a:cs typeface="Host Grotesk Medium" pitchFamily="34" charset="-120"/>
              </a:rPr>
              <a:t>Pandas inspection</a:t>
            </a:r>
            <a:endParaRPr lang="en-US" sz="1700" dirty="0"/>
          </a:p>
        </p:txBody>
      </p:sp>
      <p:sp>
        <p:nvSpPr>
          <p:cNvPr id="10" name="Text 8"/>
          <p:cNvSpPr/>
          <p:nvPr/>
        </p:nvSpPr>
        <p:spPr>
          <a:xfrm>
            <a:off x="7330098" y="3588941"/>
            <a:ext cx="1516421" cy="1791196"/>
          </a:xfrm>
          <a:prstGeom prst="rect">
            <a:avLst/>
          </a:prstGeom>
          <a:noFill/>
          <a:ln/>
        </p:spPr>
        <p:txBody>
          <a:bodyPr wrap="square" lIns="0" tIns="0" rIns="0" bIns="0" rtlCol="0" anchor="t">
            <a:normAutofit/>
          </a:bodyPr>
          <a:lstStyle/>
          <a:p>
            <a:pPr algn="l" indent="0" marL="0">
              <a:lnSpc>
                <a:spcPct val="129000"/>
              </a:lnSpc>
              <a:buNone/>
            </a:pPr>
            <a:r>
              <a:rPr lang="en-US" sz="1300" dirty="0">
                <a:solidFill>
                  <a:srgbClr val="25292A"/>
                </a:solidFill>
                <a:latin typeface="Host Grotesk" pitchFamily="34" charset="0"/>
                <a:ea typeface="Host Grotesk" pitchFamily="34" charset="-122"/>
                <a:cs typeface="Host Grotesk" pitchFamily="34" charset="-120"/>
              </a:rPr>
              <a:t>Initial exploration used inspection and summary methods to understand records, types, distributions, and completeness.</a:t>
            </a:r>
            <a:endParaRPr lang="en-US" sz="1300" dirty="0"/>
          </a:p>
        </p:txBody>
      </p:sp>
      <p:sp>
        <p:nvSpPr>
          <p:cNvPr id="11" name="Shape 9"/>
          <p:cNvSpPr/>
          <p:nvPr/>
        </p:nvSpPr>
        <p:spPr>
          <a:xfrm>
            <a:off x="9456104" y="2533650"/>
            <a:ext cx="2126006" cy="3125887"/>
          </a:xfrm>
          <a:prstGeom prst="rect">
            <a:avLst/>
          </a:prstGeom>
          <a:solidFill>
            <a:srgbClr val="26292A"/>
          </a:solidFill>
          <a:ln/>
        </p:spPr>
      </p:sp>
      <p:sp>
        <p:nvSpPr>
          <p:cNvPr id="12" name="Text 10"/>
          <p:cNvSpPr/>
          <p:nvPr/>
        </p:nvSpPr>
        <p:spPr>
          <a:xfrm>
            <a:off x="9760896" y="2813685"/>
            <a:ext cx="1516421"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Focused repair</a:t>
            </a:r>
            <a:endParaRPr lang="en-US" sz="1700" dirty="0"/>
          </a:p>
        </p:txBody>
      </p:sp>
      <p:sp>
        <p:nvSpPr>
          <p:cNvPr id="13" name="Text 11"/>
          <p:cNvSpPr/>
          <p:nvPr/>
        </p:nvSpPr>
        <p:spPr>
          <a:xfrm>
            <a:off x="9760896" y="3286720"/>
            <a:ext cx="1516421" cy="1023541"/>
          </a:xfrm>
          <a:prstGeom prst="rect">
            <a:avLst/>
          </a:prstGeom>
          <a:noFill/>
          <a:ln/>
        </p:spPr>
        <p:txBody>
          <a:bodyPr wrap="square" lIns="0" tIns="0" rIns="0" bIns="0" rtlCol="0" anchor="t">
            <a:normAutofit/>
          </a:bodyPr>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The issue was isolated to one field rather than spread across the dataset.</a:t>
            </a:r>
            <a:endParaRPr lang="en-US" sz="1300" dirty="0"/>
          </a:p>
        </p:txBody>
      </p:sp>
      <p:sp>
        <p:nvSpPr>
          <p:cNvPr id="14" name="Text 12"/>
          <p:cNvSpPr/>
          <p:nvPr/>
        </p:nvSpPr>
        <p:spPr>
          <a:xfrm>
            <a:off x="11827571" y="6449814"/>
            <a:ext cx="364124"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CLEANING</a:t>
            </a:r>
            <a:endParaRPr lang="en-US" sz="1100" dirty="0"/>
          </a:p>
        </p:txBody>
      </p:sp>
      <p:sp>
        <p:nvSpPr>
          <p:cNvPr id="3" name="Text 1"/>
          <p:cNvSpPr/>
          <p:nvPr/>
        </p:nvSpPr>
        <p:spPr>
          <a:xfrm>
            <a:off x="609585" y="986115"/>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Cleaning made the data consistent and usable</a:t>
            </a:r>
            <a:endParaRPr lang="en-US" sz="3000" dirty="0"/>
          </a:p>
        </p:txBody>
      </p:sp>
      <p:sp>
        <p:nvSpPr>
          <p:cNvPr id="4" name="Shape 2"/>
          <p:cNvSpPr/>
          <p:nvPr/>
        </p:nvSpPr>
        <p:spPr>
          <a:xfrm>
            <a:off x="609585" y="1670248"/>
            <a:ext cx="10972526" cy="12601"/>
          </a:xfrm>
          <a:prstGeom prst="roundRect">
            <a:avLst>
              <a:gd name="adj" fmla="val 49998"/>
            </a:avLst>
          </a:prstGeom>
          <a:solidFill>
            <a:srgbClr val="E7E3DA">
              <a:alpha val="24000"/>
            </a:srgbClr>
          </a:solidFill>
          <a:ln/>
        </p:spPr>
      </p:sp>
      <p:sp>
        <p:nvSpPr>
          <p:cNvPr id="5" name="Text 3"/>
          <p:cNvSpPr/>
          <p:nvPr/>
        </p:nvSpPr>
        <p:spPr>
          <a:xfrm>
            <a:off x="609585" y="1944886"/>
            <a:ext cx="857229" cy="190500"/>
          </a:xfrm>
          <a:prstGeom prst="rect">
            <a:avLst/>
          </a:prstGeom>
          <a:noFill/>
          <a:ln/>
        </p:spPr>
        <p:txBody>
          <a:bodyPr wrap="none" lIns="0" tIns="0" rIns="0" bIns="0" rtlCol="0" anchor="t"/>
          <a:lstStyle/>
          <a:p>
            <a:pPr algn="l" indent="0" marL="0">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01</a:t>
            </a:r>
            <a:endParaRPr lang="en-US" sz="1500" dirty="0"/>
          </a:p>
        </p:txBody>
      </p:sp>
      <p:sp>
        <p:nvSpPr>
          <p:cNvPr id="6" name="Shape 4"/>
          <p:cNvSpPr/>
          <p:nvPr/>
        </p:nvSpPr>
        <p:spPr>
          <a:xfrm>
            <a:off x="609585" y="2211586"/>
            <a:ext cx="3454314" cy="19050"/>
          </a:xfrm>
          <a:prstGeom prst="rect">
            <a:avLst/>
          </a:prstGeom>
          <a:solidFill>
            <a:srgbClr val="7D817E"/>
          </a:solidFill>
          <a:ln/>
        </p:spPr>
      </p:sp>
      <p:sp>
        <p:nvSpPr>
          <p:cNvPr id="7" name="Text 5"/>
          <p:cNvSpPr/>
          <p:nvPr/>
        </p:nvSpPr>
        <p:spPr>
          <a:xfrm>
            <a:off x="609585" y="2345571"/>
            <a:ext cx="3454314"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Repair ratings</a:t>
            </a:r>
            <a:endParaRPr lang="en-US" sz="1700" dirty="0"/>
          </a:p>
        </p:txBody>
      </p:sp>
      <p:sp>
        <p:nvSpPr>
          <p:cNvPr id="8" name="Text 6"/>
          <p:cNvSpPr/>
          <p:nvPr/>
        </p:nvSpPr>
        <p:spPr>
          <a:xfrm>
            <a:off x="609585" y="2818606"/>
            <a:ext cx="3454314" cy="885825"/>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Filled missing ratings with the median for the corresponding product category.</a:t>
            </a:r>
            <a:endParaRPr lang="en-US" sz="1500" dirty="0"/>
          </a:p>
        </p:txBody>
      </p:sp>
      <p:sp>
        <p:nvSpPr>
          <p:cNvPr id="9" name="Text 7"/>
          <p:cNvSpPr/>
          <p:nvPr/>
        </p:nvSpPr>
        <p:spPr>
          <a:xfrm>
            <a:off x="4368691" y="1944886"/>
            <a:ext cx="857229" cy="190500"/>
          </a:xfrm>
          <a:prstGeom prst="rect">
            <a:avLst/>
          </a:prstGeom>
          <a:noFill/>
          <a:ln/>
        </p:spPr>
        <p:txBody>
          <a:bodyPr wrap="none" lIns="0" tIns="0" rIns="0" bIns="0" rtlCol="0" anchor="t"/>
          <a:lstStyle/>
          <a:p>
            <a:pPr algn="l" indent="0" marL="0">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02</a:t>
            </a:r>
            <a:endParaRPr lang="en-US" sz="1500" dirty="0"/>
          </a:p>
        </p:txBody>
      </p:sp>
      <p:sp>
        <p:nvSpPr>
          <p:cNvPr id="10" name="Shape 8"/>
          <p:cNvSpPr/>
          <p:nvPr/>
        </p:nvSpPr>
        <p:spPr>
          <a:xfrm>
            <a:off x="4368691" y="2211586"/>
            <a:ext cx="3454314" cy="19050"/>
          </a:xfrm>
          <a:prstGeom prst="rect">
            <a:avLst/>
          </a:prstGeom>
          <a:solidFill>
            <a:srgbClr val="7D817E"/>
          </a:solidFill>
          <a:ln/>
        </p:spPr>
      </p:sp>
      <p:sp>
        <p:nvSpPr>
          <p:cNvPr id="11" name="Text 9"/>
          <p:cNvSpPr/>
          <p:nvPr/>
        </p:nvSpPr>
        <p:spPr>
          <a:xfrm>
            <a:off x="4368691" y="2345571"/>
            <a:ext cx="3454314"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Standardise names</a:t>
            </a:r>
            <a:endParaRPr lang="en-US" sz="1700" dirty="0"/>
          </a:p>
        </p:txBody>
      </p:sp>
      <p:sp>
        <p:nvSpPr>
          <p:cNvPr id="12" name="Text 10"/>
          <p:cNvSpPr/>
          <p:nvPr/>
        </p:nvSpPr>
        <p:spPr>
          <a:xfrm>
            <a:off x="4368691" y="2818606"/>
            <a:ext cx="3454314"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Converted column names to lowercase with underscores.</a:t>
            </a:r>
            <a:endParaRPr lang="en-US" sz="1500" dirty="0"/>
          </a:p>
        </p:txBody>
      </p:sp>
      <p:sp>
        <p:nvSpPr>
          <p:cNvPr id="13" name="Text 11"/>
          <p:cNvSpPr/>
          <p:nvPr/>
        </p:nvSpPr>
        <p:spPr>
          <a:xfrm>
            <a:off x="8127797" y="1944886"/>
            <a:ext cx="857229" cy="190500"/>
          </a:xfrm>
          <a:prstGeom prst="rect">
            <a:avLst/>
          </a:prstGeom>
          <a:noFill/>
          <a:ln/>
        </p:spPr>
        <p:txBody>
          <a:bodyPr wrap="none" lIns="0" tIns="0" rIns="0" bIns="0" rtlCol="0" anchor="t"/>
          <a:lstStyle/>
          <a:p>
            <a:pPr algn="l" indent="0" marL="0">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03</a:t>
            </a:r>
            <a:endParaRPr lang="en-US" sz="1500" dirty="0"/>
          </a:p>
        </p:txBody>
      </p:sp>
      <p:sp>
        <p:nvSpPr>
          <p:cNvPr id="14" name="Shape 12"/>
          <p:cNvSpPr/>
          <p:nvPr/>
        </p:nvSpPr>
        <p:spPr>
          <a:xfrm>
            <a:off x="8127797" y="2211586"/>
            <a:ext cx="3454314" cy="19050"/>
          </a:xfrm>
          <a:prstGeom prst="rect">
            <a:avLst/>
          </a:prstGeom>
          <a:solidFill>
            <a:srgbClr val="7D817E"/>
          </a:solidFill>
          <a:ln/>
        </p:spPr>
      </p:sp>
      <p:sp>
        <p:nvSpPr>
          <p:cNvPr id="15" name="Text 13"/>
          <p:cNvSpPr/>
          <p:nvPr/>
        </p:nvSpPr>
        <p:spPr>
          <a:xfrm>
            <a:off x="8127797" y="2345571"/>
            <a:ext cx="3454314"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Clarify amount</a:t>
            </a:r>
            <a:endParaRPr lang="en-US" sz="1700" dirty="0"/>
          </a:p>
        </p:txBody>
      </p:sp>
      <p:sp>
        <p:nvSpPr>
          <p:cNvPr id="16" name="Text 14"/>
          <p:cNvSpPr/>
          <p:nvPr/>
        </p:nvSpPr>
        <p:spPr>
          <a:xfrm>
            <a:off x="8127797" y="2818606"/>
            <a:ext cx="3454314"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Renamed purchase_amount_(usd) to purchase_amount.</a:t>
            </a:r>
            <a:endParaRPr lang="en-US" sz="1500" dirty="0"/>
          </a:p>
        </p:txBody>
      </p:sp>
      <p:sp>
        <p:nvSpPr>
          <p:cNvPr id="17" name="Text 15"/>
          <p:cNvSpPr/>
          <p:nvPr/>
        </p:nvSpPr>
        <p:spPr>
          <a:xfrm>
            <a:off x="609585" y="6024959"/>
            <a:ext cx="11582110" cy="223441"/>
          </a:xfrm>
          <a:prstGeom prst="rect">
            <a:avLst/>
          </a:prstGeom>
          <a:noFill/>
          <a:ln/>
        </p:spPr>
        <p:txBody>
          <a:bodyPr wrap="none" lIns="0" tIns="0" rIns="0" bIns="0" rtlCol="0" anchor="t"/>
          <a:lstStyle/>
          <a:p>
            <a:pPr algn="l" indent="0" marL="0">
              <a:lnSpc>
                <a:spcPct val="133000"/>
              </a:lnSpc>
              <a:buNone/>
            </a:pPr>
            <a:r>
              <a:rPr lang="en-US" sz="1100" spc="22" kern="100" dirty="0">
                <a:solidFill>
                  <a:srgbClr val="A4A6A2"/>
                </a:solidFill>
                <a:latin typeface="Host Grotesk" pitchFamily="34" charset="0"/>
                <a:ea typeface="Host Grotesk" pitchFamily="34" charset="-122"/>
                <a:cs typeface="Host Grotesk" pitchFamily="34" charset="-120"/>
              </a:rPr>
              <a:t>One focused issue repaired · fields aligned for downstream analysis</a:t>
            </a:r>
            <a:endParaRPr lang="en-US" sz="1100" dirty="0"/>
          </a:p>
        </p:txBody>
      </p:sp>
      <p:sp>
        <p:nvSpPr>
          <p:cNvPr id="18" name="Text 16"/>
          <p:cNvSpPr/>
          <p:nvPr/>
        </p:nvSpPr>
        <p:spPr>
          <a:xfrm>
            <a:off x="11827571" y="6449814"/>
            <a:ext cx="364124"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FEATURE ENGINEERING</a:t>
            </a:r>
            <a:endParaRPr lang="en-US" sz="1100" dirty="0"/>
          </a:p>
        </p:txBody>
      </p:sp>
      <p:sp>
        <p:nvSpPr>
          <p:cNvPr id="3" name="Text 1"/>
          <p:cNvSpPr/>
          <p:nvPr/>
        </p:nvSpPr>
        <p:spPr>
          <a:xfrm>
            <a:off x="609585" y="986115"/>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Feature engineering added customer-ready segments</a:t>
            </a:r>
            <a:endParaRPr lang="en-US" sz="3000" dirty="0"/>
          </a:p>
        </p:txBody>
      </p:sp>
      <p:sp>
        <p:nvSpPr>
          <p:cNvPr id="4" name="Shape 2"/>
          <p:cNvSpPr/>
          <p:nvPr/>
        </p:nvSpPr>
        <p:spPr>
          <a:xfrm>
            <a:off x="609585" y="1670248"/>
            <a:ext cx="10972526" cy="12601"/>
          </a:xfrm>
          <a:prstGeom prst="roundRect">
            <a:avLst>
              <a:gd name="adj" fmla="val 49998"/>
            </a:avLst>
          </a:prstGeom>
          <a:solidFill>
            <a:srgbClr val="E7E3DA">
              <a:alpha val="24000"/>
            </a:srgbClr>
          </a:solidFill>
          <a:ln/>
        </p:spPr>
      </p:sp>
      <p:sp>
        <p:nvSpPr>
          <p:cNvPr id="5" name="Shape 3"/>
          <p:cNvSpPr/>
          <p:nvPr/>
        </p:nvSpPr>
        <p:spPr>
          <a:xfrm>
            <a:off x="609585" y="1944886"/>
            <a:ext cx="5333867" cy="4303514"/>
          </a:xfrm>
          <a:prstGeom prst="rect">
            <a:avLst/>
          </a:prstGeom>
          <a:solidFill>
            <a:srgbClr val="D5D3CC"/>
          </a:solidFill>
          <a:ln/>
        </p:spPr>
      </p:sp>
      <p:sp>
        <p:nvSpPr>
          <p:cNvPr id="6" name="Shape 4"/>
          <p:cNvSpPr/>
          <p:nvPr/>
        </p:nvSpPr>
        <p:spPr>
          <a:xfrm>
            <a:off x="990575" y="2300486"/>
            <a:ext cx="1379503" cy="289520"/>
          </a:xfrm>
          <a:prstGeom prst="rect">
            <a:avLst/>
          </a:prstGeom>
          <a:noFill/>
          <a:ln w="6350">
            <a:solidFill>
              <a:srgbClr val="E7E3DA">
                <a:alpha val="24000"/>
              </a:srgbClr>
            </a:solidFill>
            <a:prstDash val="solid"/>
          </a:ln>
        </p:spPr>
      </p:sp>
      <p:sp>
        <p:nvSpPr>
          <p:cNvPr id="7" name="Text 5"/>
          <p:cNvSpPr/>
          <p:nvPr/>
        </p:nvSpPr>
        <p:spPr>
          <a:xfrm>
            <a:off x="1104872" y="2365936"/>
            <a:ext cx="1760493" cy="175220"/>
          </a:xfrm>
          <a:prstGeom prst="rect">
            <a:avLst/>
          </a:prstGeom>
          <a:noFill/>
          <a:ln/>
        </p:spPr>
        <p:txBody>
          <a:bodyPr wrap="none" lIns="0" tIns="0" rIns="0" bIns="0" rtlCol="0" anchor="t"/>
          <a:lstStyle/>
          <a:p>
            <a:pPr algn="l" indent="0" marL="0">
              <a:lnSpc>
                <a:spcPct val="96000"/>
              </a:lnSpc>
              <a:buNone/>
            </a:pPr>
            <a:r>
              <a:rPr lang="en-US" sz="1200" dirty="0">
                <a:solidFill>
                  <a:srgbClr val="25292A"/>
                </a:solidFill>
                <a:latin typeface="Host Grotesk Medium" pitchFamily="34" charset="0"/>
                <a:ea typeface="Host Grotesk Medium" pitchFamily="34" charset="-122"/>
                <a:cs typeface="Host Grotesk Medium" pitchFamily="34" charset="-120"/>
              </a:rPr>
              <a:t>NEW ATTRIBUTE</a:t>
            </a:r>
            <a:endParaRPr lang="en-US" sz="1200" dirty="0"/>
          </a:p>
        </p:txBody>
      </p:sp>
      <p:sp>
        <p:nvSpPr>
          <p:cNvPr id="8" name="Text 6"/>
          <p:cNvSpPr/>
          <p:nvPr/>
        </p:nvSpPr>
        <p:spPr>
          <a:xfrm>
            <a:off x="990575" y="2690654"/>
            <a:ext cx="4571886" cy="391120"/>
          </a:xfrm>
          <a:prstGeom prst="rect">
            <a:avLst/>
          </a:prstGeom>
          <a:noFill/>
          <a:ln/>
        </p:spPr>
        <p:txBody>
          <a:bodyPr wrap="none" lIns="0" tIns="0" rIns="0" bIns="0" rtlCol="0" anchor="t"/>
          <a:lstStyle/>
          <a:p>
            <a:pPr algn="l" indent="0" marL="0">
              <a:lnSpc>
                <a:spcPct val="117000"/>
              </a:lnSpc>
              <a:buNone/>
            </a:pPr>
            <a:r>
              <a:rPr lang="en-US" sz="2200" dirty="0">
                <a:solidFill>
                  <a:srgbClr val="25292A"/>
                </a:solidFill>
                <a:latin typeface="Host Grotesk Medium" pitchFamily="34" charset="0"/>
                <a:ea typeface="Host Grotesk Medium" pitchFamily="34" charset="-122"/>
                <a:cs typeface="Host Grotesk Medium" pitchFamily="34" charset="-120"/>
              </a:rPr>
              <a:t>Age groups</a:t>
            </a:r>
            <a:endParaRPr lang="en-US" sz="2200" dirty="0"/>
          </a:p>
        </p:txBody>
      </p:sp>
      <p:sp>
        <p:nvSpPr>
          <p:cNvPr id="9" name="Text 7"/>
          <p:cNvSpPr/>
          <p:nvPr/>
        </p:nvSpPr>
        <p:spPr>
          <a:xfrm>
            <a:off x="990575" y="3251002"/>
            <a:ext cx="4571886"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25292A"/>
                </a:solidFill>
                <a:latin typeface="Host Grotesk" pitchFamily="34" charset="0"/>
                <a:ea typeface="Host Grotesk" pitchFamily="34" charset="-122"/>
                <a:cs typeface="Host Grotesk" pitchFamily="34" charset="-120"/>
              </a:rPr>
              <a:t>Four quantile-based groups translate a continuous field into customer-ready segments.</a:t>
            </a:r>
            <a:endParaRPr lang="en-US" sz="1500" dirty="0"/>
          </a:p>
        </p:txBody>
      </p:sp>
      <p:sp>
        <p:nvSpPr>
          <p:cNvPr id="10" name="Text 8"/>
          <p:cNvSpPr/>
          <p:nvPr/>
        </p:nvSpPr>
        <p:spPr>
          <a:xfrm>
            <a:off x="990575" y="3981252"/>
            <a:ext cx="1028674"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25292A"/>
                </a:solidFill>
                <a:latin typeface="Host Grotesk" pitchFamily="34" charset="0"/>
                <a:ea typeface="Host Grotesk" pitchFamily="34" charset="-122"/>
                <a:cs typeface="Host Grotesk" pitchFamily="34" charset="-120"/>
              </a:rPr>
              <a:t>Young Adult</a:t>
            </a:r>
            <a:endParaRPr lang="en-US" sz="1500" dirty="0"/>
          </a:p>
        </p:txBody>
      </p:sp>
      <p:sp>
        <p:nvSpPr>
          <p:cNvPr id="11" name="Text 9"/>
          <p:cNvSpPr/>
          <p:nvPr/>
        </p:nvSpPr>
        <p:spPr>
          <a:xfrm>
            <a:off x="2171646" y="3981252"/>
            <a:ext cx="1028674" cy="295275"/>
          </a:xfrm>
          <a:prstGeom prst="rect">
            <a:avLst/>
          </a:prstGeom>
          <a:noFill/>
          <a:ln/>
        </p:spPr>
        <p:txBody>
          <a:bodyPr wrap="none" lIns="0" tIns="0" rIns="0" bIns="0" rtlCol="0" anchor="t"/>
          <a:lstStyle/>
          <a:p>
            <a:pPr algn="l" indent="0" marL="0">
              <a:lnSpc>
                <a:spcPct val="129000"/>
              </a:lnSpc>
              <a:buNone/>
            </a:pPr>
            <a:r>
              <a:rPr lang="en-US" sz="1500" dirty="0">
                <a:solidFill>
                  <a:srgbClr val="25292A"/>
                </a:solidFill>
                <a:latin typeface="Host Grotesk" pitchFamily="34" charset="0"/>
                <a:ea typeface="Host Grotesk" pitchFamily="34" charset="-122"/>
                <a:cs typeface="Host Grotesk" pitchFamily="34" charset="-120"/>
              </a:rPr>
              <a:t>Adult</a:t>
            </a:r>
            <a:endParaRPr lang="en-US" sz="1500" dirty="0"/>
          </a:p>
        </p:txBody>
      </p:sp>
      <p:sp>
        <p:nvSpPr>
          <p:cNvPr id="12" name="Text 10"/>
          <p:cNvSpPr/>
          <p:nvPr/>
        </p:nvSpPr>
        <p:spPr>
          <a:xfrm>
            <a:off x="3352716" y="3981252"/>
            <a:ext cx="1028674"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25292A"/>
                </a:solidFill>
                <a:latin typeface="Host Grotesk" pitchFamily="34" charset="0"/>
                <a:ea typeface="Host Grotesk" pitchFamily="34" charset="-122"/>
                <a:cs typeface="Host Grotesk" pitchFamily="34" charset="-120"/>
              </a:rPr>
              <a:t>Middle-aged</a:t>
            </a:r>
            <a:endParaRPr lang="en-US" sz="1500" dirty="0"/>
          </a:p>
        </p:txBody>
      </p:sp>
      <p:sp>
        <p:nvSpPr>
          <p:cNvPr id="13" name="Text 11"/>
          <p:cNvSpPr/>
          <p:nvPr/>
        </p:nvSpPr>
        <p:spPr>
          <a:xfrm>
            <a:off x="4533787" y="3981252"/>
            <a:ext cx="1028674" cy="295275"/>
          </a:xfrm>
          <a:prstGeom prst="rect">
            <a:avLst/>
          </a:prstGeom>
          <a:noFill/>
          <a:ln/>
        </p:spPr>
        <p:txBody>
          <a:bodyPr wrap="none" lIns="0" tIns="0" rIns="0" bIns="0" rtlCol="0" anchor="t"/>
          <a:lstStyle/>
          <a:p>
            <a:pPr algn="l" indent="0" marL="0">
              <a:lnSpc>
                <a:spcPct val="129000"/>
              </a:lnSpc>
              <a:buNone/>
            </a:pPr>
            <a:r>
              <a:rPr lang="en-US" sz="1500" dirty="0">
                <a:solidFill>
                  <a:srgbClr val="25292A"/>
                </a:solidFill>
                <a:latin typeface="Host Grotesk" pitchFamily="34" charset="0"/>
                <a:ea typeface="Host Grotesk" pitchFamily="34" charset="-122"/>
                <a:cs typeface="Host Grotesk" pitchFamily="34" charset="-120"/>
              </a:rPr>
              <a:t>Senior</a:t>
            </a:r>
            <a:endParaRPr lang="en-US" sz="1500" dirty="0"/>
          </a:p>
        </p:txBody>
      </p:sp>
      <p:sp>
        <p:nvSpPr>
          <p:cNvPr id="14" name="Shape 12"/>
          <p:cNvSpPr/>
          <p:nvPr/>
        </p:nvSpPr>
        <p:spPr>
          <a:xfrm>
            <a:off x="6629234" y="2300486"/>
            <a:ext cx="1379503" cy="289520"/>
          </a:xfrm>
          <a:prstGeom prst="rect">
            <a:avLst/>
          </a:prstGeom>
          <a:noFill/>
          <a:ln w="6350">
            <a:solidFill>
              <a:srgbClr val="E7E3DA">
                <a:alpha val="24000"/>
              </a:srgbClr>
            </a:solidFill>
            <a:prstDash val="solid"/>
          </a:ln>
        </p:spPr>
      </p:sp>
      <p:sp>
        <p:nvSpPr>
          <p:cNvPr id="15" name="Text 13"/>
          <p:cNvSpPr/>
          <p:nvPr/>
        </p:nvSpPr>
        <p:spPr>
          <a:xfrm>
            <a:off x="6743531" y="2365936"/>
            <a:ext cx="1760493" cy="175220"/>
          </a:xfrm>
          <a:prstGeom prst="rect">
            <a:avLst/>
          </a:prstGeom>
          <a:noFill/>
          <a:ln/>
        </p:spPr>
        <p:txBody>
          <a:bodyPr wrap="none" lIns="0" tIns="0" rIns="0" bIns="0" rtlCol="0" anchor="t"/>
          <a:lstStyle/>
          <a:p>
            <a:pPr algn="l" indent="0" marL="0">
              <a:lnSpc>
                <a:spcPct val="96000"/>
              </a:lnSpc>
              <a:buNone/>
            </a:pPr>
            <a:r>
              <a:rPr lang="en-US" sz="1200" dirty="0">
                <a:solidFill>
                  <a:srgbClr val="A4A6A2"/>
                </a:solidFill>
                <a:latin typeface="Host Grotesk Medium" pitchFamily="34" charset="0"/>
                <a:ea typeface="Host Grotesk Medium" pitchFamily="34" charset="-122"/>
                <a:cs typeface="Host Grotesk Medium" pitchFamily="34" charset="-120"/>
              </a:rPr>
              <a:t>NEW ATTRIBUTE</a:t>
            </a:r>
            <a:endParaRPr lang="en-US" sz="1200" dirty="0"/>
          </a:p>
        </p:txBody>
      </p:sp>
      <p:sp>
        <p:nvSpPr>
          <p:cNvPr id="16" name="Text 14"/>
          <p:cNvSpPr/>
          <p:nvPr/>
        </p:nvSpPr>
        <p:spPr>
          <a:xfrm>
            <a:off x="6629234" y="2690654"/>
            <a:ext cx="4571886" cy="391120"/>
          </a:xfrm>
          <a:prstGeom prst="rect">
            <a:avLst/>
          </a:prstGeom>
          <a:noFill/>
          <a:ln/>
        </p:spPr>
        <p:txBody>
          <a:bodyPr wrap="none" lIns="0" tIns="0" rIns="0" bIns="0" rtlCol="0" anchor="t"/>
          <a:lstStyle/>
          <a:p>
            <a:pPr algn="l" indent="0" marL="0">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Purchase frequency</a:t>
            </a:r>
            <a:endParaRPr lang="en-US" sz="2200" dirty="0"/>
          </a:p>
        </p:txBody>
      </p:sp>
      <p:sp>
        <p:nvSpPr>
          <p:cNvPr id="17" name="Text 15"/>
          <p:cNvSpPr/>
          <p:nvPr/>
        </p:nvSpPr>
        <p:spPr>
          <a:xfrm>
            <a:off x="6629234" y="3251002"/>
            <a:ext cx="4571886"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Frequency labels became numeric day intervals, from weekly to annually.</a:t>
            </a:r>
            <a:endParaRPr lang="en-US" sz="1500" dirty="0"/>
          </a:p>
        </p:txBody>
      </p:sp>
      <p:sp>
        <p:nvSpPr>
          <p:cNvPr id="18" name="Shape 16"/>
          <p:cNvSpPr/>
          <p:nvPr/>
        </p:nvSpPr>
        <p:spPr>
          <a:xfrm>
            <a:off x="6629234" y="4066977"/>
            <a:ext cx="507888" cy="19050"/>
          </a:xfrm>
          <a:prstGeom prst="roundRect">
            <a:avLst>
              <a:gd name="adj" fmla="val 49999"/>
            </a:avLst>
          </a:prstGeom>
          <a:solidFill>
            <a:srgbClr val="D87346"/>
          </a:solidFill>
          <a:ln/>
        </p:spPr>
      </p:sp>
      <p:sp>
        <p:nvSpPr>
          <p:cNvPr id="19" name="Text 17"/>
          <p:cNvSpPr/>
          <p:nvPr/>
        </p:nvSpPr>
        <p:spPr>
          <a:xfrm>
            <a:off x="6629234" y="4311452"/>
            <a:ext cx="4952876" cy="223441"/>
          </a:xfrm>
          <a:prstGeom prst="rect">
            <a:avLst/>
          </a:prstGeom>
          <a:noFill/>
          <a:ln/>
        </p:spPr>
        <p:txBody>
          <a:bodyPr wrap="none" lIns="0" tIns="0" rIns="0" bIns="0" rtlCol="0" anchor="t"/>
          <a:lstStyle/>
          <a:p>
            <a:pPr algn="l" indent="0" marL="0">
              <a:lnSpc>
                <a:spcPct val="133000"/>
              </a:lnSpc>
              <a:buNone/>
            </a:pPr>
            <a:r>
              <a:rPr lang="en-US" sz="1100" spc="22" kern="100" dirty="0">
                <a:solidFill>
                  <a:srgbClr val="A4A6A2"/>
                </a:solidFill>
                <a:latin typeface="Host Grotesk" pitchFamily="34" charset="0"/>
                <a:ea typeface="Host Grotesk" pitchFamily="34" charset="-122"/>
                <a:cs typeface="Host Grotesk" pitchFamily="34" charset="-120"/>
              </a:rPr>
              <a:t>A consistent interval supports sorting, filtering, and comparison.</a:t>
            </a:r>
            <a:endParaRPr lang="en-US" sz="1100" dirty="0"/>
          </a:p>
        </p:txBody>
      </p:sp>
      <p:sp>
        <p:nvSpPr>
          <p:cNvPr id="20" name="Text 18"/>
          <p:cNvSpPr/>
          <p:nvPr/>
        </p:nvSpPr>
        <p:spPr>
          <a:xfrm>
            <a:off x="11827571" y="6449814"/>
            <a:ext cx="364124"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VALIDATION</a:t>
            </a:r>
            <a:endParaRPr lang="en-US" sz="1100" dirty="0"/>
          </a:p>
        </p:txBody>
      </p:sp>
      <p:sp>
        <p:nvSpPr>
          <p:cNvPr id="3" name="Text 1"/>
          <p:cNvSpPr/>
          <p:nvPr/>
        </p:nvSpPr>
        <p:spPr>
          <a:xfrm>
            <a:off x="609585" y="986115"/>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Validation removed redundancy before loading</a:t>
            </a:r>
            <a:endParaRPr lang="en-US" sz="3000" dirty="0"/>
          </a:p>
        </p:txBody>
      </p:sp>
      <p:sp>
        <p:nvSpPr>
          <p:cNvPr id="4" name="Shape 2"/>
          <p:cNvSpPr/>
          <p:nvPr/>
        </p:nvSpPr>
        <p:spPr>
          <a:xfrm>
            <a:off x="609585" y="1670248"/>
            <a:ext cx="10972526" cy="12601"/>
          </a:xfrm>
          <a:prstGeom prst="roundRect">
            <a:avLst>
              <a:gd name="adj" fmla="val 49998"/>
            </a:avLst>
          </a:prstGeom>
          <a:solidFill>
            <a:srgbClr val="E7E3DA">
              <a:alpha val="24000"/>
            </a:srgbClr>
          </a:solidFill>
          <a:ln/>
        </p:spPr>
      </p:sp>
      <p:pic>
        <p:nvPicPr>
          <p:cNvPr id="5" name="Image 0" descr="preencoded.png">    </p:cNvPr>
          <p:cNvPicPr>
            <a:picLocks noChangeAspect="1"/>
          </p:cNvPicPr>
          <p:nvPr/>
        </p:nvPicPr>
        <p:blipFill>
          <a:blip r:embed="rId1"/>
          <a:stretch>
            <a:fillRect/>
          </a:stretch>
        </p:blipFill>
        <p:spPr>
          <a:xfrm>
            <a:off x="609585" y="1944886"/>
            <a:ext cx="380990" cy="381000"/>
          </a:xfrm>
          <a:prstGeom prst="rect">
            <a:avLst/>
          </a:prstGeom>
        </p:spPr>
      </p:pic>
      <p:sp>
        <p:nvSpPr>
          <p:cNvPr id="6" name="Text 3"/>
          <p:cNvSpPr/>
          <p:nvPr/>
        </p:nvSpPr>
        <p:spPr>
          <a:xfrm>
            <a:off x="609585" y="2466221"/>
            <a:ext cx="5333867"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Redundant field removed</a:t>
            </a:r>
            <a:endParaRPr lang="en-US" sz="1700" dirty="0"/>
          </a:p>
        </p:txBody>
      </p:sp>
      <p:sp>
        <p:nvSpPr>
          <p:cNvPr id="7" name="Text 4"/>
          <p:cNvSpPr/>
          <p:nvPr/>
        </p:nvSpPr>
        <p:spPr>
          <a:xfrm>
            <a:off x="609585" y="2939256"/>
            <a:ext cx="5333867"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discount_applied and promo_code_used matched for every record, so the redundant field was removed.</a:t>
            </a:r>
            <a:endParaRPr lang="en-US" sz="1500" dirty="0"/>
          </a:p>
        </p:txBody>
      </p:sp>
      <p:pic>
        <p:nvPicPr>
          <p:cNvPr id="8" name="Image 1" descr="preencoded.png">    </p:cNvPr>
          <p:cNvPicPr>
            <a:picLocks noChangeAspect="1"/>
          </p:cNvPicPr>
          <p:nvPr/>
        </p:nvPicPr>
        <p:blipFill>
          <a:blip r:embed="rId2"/>
          <a:stretch>
            <a:fillRect/>
          </a:stretch>
        </p:blipFill>
        <p:spPr>
          <a:xfrm>
            <a:off x="6248244" y="1944886"/>
            <a:ext cx="380990" cy="381000"/>
          </a:xfrm>
          <a:prstGeom prst="rect">
            <a:avLst/>
          </a:prstGeom>
        </p:spPr>
      </p:pic>
      <p:sp>
        <p:nvSpPr>
          <p:cNvPr id="9" name="Text 5"/>
          <p:cNvSpPr/>
          <p:nvPr/>
        </p:nvSpPr>
        <p:spPr>
          <a:xfrm>
            <a:off x="6248244" y="2466221"/>
            <a:ext cx="5333867"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Duplicate check passed</a:t>
            </a:r>
            <a:endParaRPr lang="en-US" sz="1700" dirty="0"/>
          </a:p>
        </p:txBody>
      </p:sp>
      <p:sp>
        <p:nvSpPr>
          <p:cNvPr id="10" name="Text 6"/>
          <p:cNvSpPr/>
          <p:nvPr/>
        </p:nvSpPr>
        <p:spPr>
          <a:xfrm>
            <a:off x="6248244" y="2939256"/>
            <a:ext cx="5333867" cy="295275"/>
          </a:xfrm>
          <a:prstGeom prst="rect">
            <a:avLst/>
          </a:prstGeom>
          <a:noFill/>
          <a:ln/>
        </p:spPr>
        <p:txBody>
          <a:bodyPr wrap="none" lIns="0" tIns="0" rIns="0" bIns="0" rtlCol="0" anchor="t"/>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Duplicate-row checks returned zero duplicates.</a:t>
            </a:r>
            <a:endParaRPr lang="en-US" sz="1500" dirty="0"/>
          </a:p>
        </p:txBody>
      </p:sp>
      <p:pic>
        <p:nvPicPr>
          <p:cNvPr id="11" name="Image 2" descr="preencoded.png">    </p:cNvPr>
          <p:cNvPicPr>
            <a:picLocks noChangeAspect="1"/>
          </p:cNvPicPr>
          <p:nvPr/>
        </p:nvPicPr>
        <p:blipFill>
          <a:blip r:embed="rId3"/>
          <a:stretch>
            <a:fillRect/>
          </a:stretch>
        </p:blipFill>
        <p:spPr>
          <a:xfrm>
            <a:off x="6248244" y="3374231"/>
            <a:ext cx="380990" cy="381000"/>
          </a:xfrm>
          <a:prstGeom prst="rect">
            <a:avLst/>
          </a:prstGeom>
        </p:spPr>
      </p:pic>
      <p:sp>
        <p:nvSpPr>
          <p:cNvPr id="12" name="Text 7"/>
          <p:cNvSpPr/>
          <p:nvPr/>
        </p:nvSpPr>
        <p:spPr>
          <a:xfrm>
            <a:off x="6248244" y="3895566"/>
            <a:ext cx="5333867"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Types confirmed</a:t>
            </a:r>
            <a:endParaRPr lang="en-US" sz="1700" dirty="0"/>
          </a:p>
        </p:txBody>
      </p:sp>
      <p:sp>
        <p:nvSpPr>
          <p:cNvPr id="13" name="Text 8"/>
          <p:cNvSpPr/>
          <p:nvPr/>
        </p:nvSpPr>
        <p:spPr>
          <a:xfrm>
            <a:off x="6248244" y="4368602"/>
            <a:ext cx="5333867"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Data types were checked across integer, floating-point, text, and categorical fields.</a:t>
            </a:r>
            <a:endParaRPr lang="en-US" sz="1500" dirty="0"/>
          </a:p>
        </p:txBody>
      </p:sp>
      <p:sp>
        <p:nvSpPr>
          <p:cNvPr id="14" name="Text 9"/>
          <p:cNvSpPr/>
          <p:nvPr/>
        </p:nvSpPr>
        <p:spPr>
          <a:xfrm>
            <a:off x="11827571" y="6449814"/>
            <a:ext cx="364124"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6502237"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PUBLISHING LAYER</a:t>
            </a:r>
            <a:endParaRPr lang="en-US" sz="1100" dirty="0"/>
          </a:p>
        </p:txBody>
      </p:sp>
      <p:sp>
        <p:nvSpPr>
          <p:cNvPr id="3" name="Text 1"/>
          <p:cNvSpPr/>
          <p:nvPr/>
        </p:nvSpPr>
        <p:spPr>
          <a:xfrm>
            <a:off x="609585" y="986115"/>
            <a:ext cx="5943451" cy="853281"/>
          </a:xfrm>
          <a:prstGeom prst="rect">
            <a:avLst/>
          </a:prstGeom>
          <a:noFill/>
          <a:ln/>
        </p:spPr>
        <p:txBody>
          <a:bodyPr wrap="square" lIns="0" tIns="0" rIns="0" bIns="0" rtlCol="0" anchor="t">
            <a:normAutofit/>
          </a:bodyPr>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Supabase PostgreSQL became the analysis layer</a:t>
            </a:r>
            <a:endParaRPr lang="en-US" sz="3000" dirty="0"/>
          </a:p>
        </p:txBody>
      </p:sp>
      <p:sp>
        <p:nvSpPr>
          <p:cNvPr id="4" name="Shape 2"/>
          <p:cNvSpPr/>
          <p:nvPr/>
        </p:nvSpPr>
        <p:spPr>
          <a:xfrm>
            <a:off x="609585" y="2096889"/>
            <a:ext cx="5943451" cy="12601"/>
          </a:xfrm>
          <a:prstGeom prst="roundRect">
            <a:avLst>
              <a:gd name="adj" fmla="val 49998"/>
            </a:avLst>
          </a:prstGeom>
          <a:solidFill>
            <a:srgbClr val="E7E3DA">
              <a:alpha val="24000"/>
            </a:srgbClr>
          </a:solidFill>
          <a:ln/>
        </p:spPr>
      </p:sp>
      <p:sp>
        <p:nvSpPr>
          <p:cNvPr id="5" name="Text 3"/>
          <p:cNvSpPr/>
          <p:nvPr/>
        </p:nvSpPr>
        <p:spPr>
          <a:xfrm>
            <a:off x="609585" y="2371527"/>
            <a:ext cx="5943451"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Connected the processed DataFrame using SQLAlchemy and psycopg2.</a:t>
            </a:r>
            <a:endParaRPr lang="en-US" sz="1500" dirty="0"/>
          </a:p>
        </p:txBody>
      </p:sp>
      <p:sp>
        <p:nvSpPr>
          <p:cNvPr id="6" name="Shape 4"/>
          <p:cNvSpPr/>
          <p:nvPr/>
        </p:nvSpPr>
        <p:spPr>
          <a:xfrm>
            <a:off x="609585" y="5185172"/>
            <a:ext cx="5943451" cy="1114028"/>
          </a:xfrm>
          <a:prstGeom prst="rect">
            <a:avLst/>
          </a:prstGeom>
          <a:solidFill>
            <a:srgbClr val="D5D3CC"/>
          </a:solidFill>
          <a:ln/>
        </p:spPr>
      </p:sp>
      <p:sp>
        <p:nvSpPr>
          <p:cNvPr id="7" name="Text 5"/>
          <p:cNvSpPr/>
          <p:nvPr/>
        </p:nvSpPr>
        <p:spPr>
          <a:xfrm>
            <a:off x="863578" y="5388372"/>
            <a:ext cx="5689458" cy="344488"/>
          </a:xfrm>
          <a:prstGeom prst="rect">
            <a:avLst/>
          </a:prstGeom>
          <a:noFill/>
          <a:ln/>
        </p:spPr>
        <p:txBody>
          <a:bodyPr wrap="none" lIns="0" tIns="0" rIns="0" bIns="0" rtlCol="0" anchor="t"/>
          <a:lstStyle/>
          <a:p>
            <a:pPr algn="l" indent="0" marL="0">
              <a:lnSpc>
                <a:spcPct val="129000"/>
              </a:lnSpc>
              <a:buNone/>
            </a:pPr>
            <a:r>
              <a:rPr lang="en-US" sz="1750" b="1" dirty="0">
                <a:solidFill>
                  <a:srgbClr val="25292A"/>
                </a:solidFill>
                <a:latin typeface="Host Grotesk Bold" pitchFamily="34" charset="0"/>
                <a:ea typeface="Host Grotesk Bold" pitchFamily="34" charset="-122"/>
                <a:cs typeface="Host Grotesk Bold" pitchFamily="34" charset="-120"/>
              </a:rPr>
              <a:t>SSL-enabled connectivity tested successfully</a:t>
            </a:r>
            <a:endParaRPr lang="en-US" sz="1750" dirty="0"/>
          </a:p>
        </p:txBody>
      </p:sp>
      <p:sp>
        <p:nvSpPr>
          <p:cNvPr id="8" name="Text 6"/>
          <p:cNvSpPr/>
          <p:nvPr/>
        </p:nvSpPr>
        <p:spPr>
          <a:xfrm>
            <a:off x="863578" y="5872559"/>
            <a:ext cx="5689458" cy="223441"/>
          </a:xfrm>
          <a:prstGeom prst="rect">
            <a:avLst/>
          </a:prstGeom>
          <a:noFill/>
          <a:ln/>
        </p:spPr>
        <p:txBody>
          <a:bodyPr wrap="none" lIns="0" tIns="0" rIns="0" bIns="0" rtlCol="0" anchor="t"/>
          <a:lstStyle/>
          <a:p>
            <a:pPr algn="l" indent="0" marL="0">
              <a:lnSpc>
                <a:spcPct val="133000"/>
              </a:lnSpc>
              <a:buNone/>
            </a:pPr>
            <a:r>
              <a:rPr lang="en-US" sz="1100" spc="22" kern="100" dirty="0">
                <a:solidFill>
                  <a:srgbClr val="25292A"/>
                </a:solidFill>
                <a:latin typeface="Host Grotesk" pitchFamily="34" charset="0"/>
                <a:ea typeface="Host Grotesk" pitchFamily="34" charset="-122"/>
                <a:cs typeface="Host Grotesk" pitchFamily="34" charset="-120"/>
              </a:rPr>
              <a:t>PostgreSQL 17.11</a:t>
            </a:r>
            <a:endParaRPr lang="en-US" sz="1100" dirty="0"/>
          </a:p>
        </p:txBody>
      </p:sp>
      <p:pic>
        <p:nvPicPr>
          <p:cNvPr id="9" name="Image 0" descr="preencoded.png">    </p:cNvPr>
          <p:cNvPicPr>
            <a:picLocks noChangeAspect="1"/>
          </p:cNvPicPr>
          <p:nvPr/>
        </p:nvPicPr>
        <p:blipFill>
          <a:blip r:embed="rId1"/>
          <a:stretch>
            <a:fillRect/>
          </a:stretch>
        </p:blipFill>
        <p:spPr>
          <a:xfrm>
            <a:off x="7111822" y="0"/>
            <a:ext cx="5079873" cy="6858000"/>
          </a:xfrm>
          <a:prstGeom prst="rect">
            <a:avLst/>
          </a:prstGeom>
        </p:spPr>
      </p:pic>
      <p:sp>
        <p:nvSpPr>
          <p:cNvPr id="10" name="Text 7"/>
          <p:cNvSpPr/>
          <p:nvPr/>
        </p:nvSpPr>
        <p:spPr>
          <a:xfrm>
            <a:off x="190594" y="6449814"/>
            <a:ext cx="783015"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LOAD COMPLETE</a:t>
            </a:r>
            <a:endParaRPr lang="en-US" sz="1100" dirty="0"/>
          </a:p>
        </p:txBody>
      </p:sp>
      <p:sp>
        <p:nvSpPr>
          <p:cNvPr id="3" name="Text 1"/>
          <p:cNvSpPr/>
          <p:nvPr/>
        </p:nvSpPr>
        <p:spPr>
          <a:xfrm>
            <a:off x="609585" y="986115"/>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3,900 processed records are ready for SQL analysis</a:t>
            </a:r>
            <a:endParaRPr lang="en-US" sz="3000" dirty="0"/>
          </a:p>
        </p:txBody>
      </p:sp>
      <p:sp>
        <p:nvSpPr>
          <p:cNvPr id="4" name="Shape 2"/>
          <p:cNvSpPr/>
          <p:nvPr/>
        </p:nvSpPr>
        <p:spPr>
          <a:xfrm>
            <a:off x="609585" y="1670248"/>
            <a:ext cx="10972526" cy="12601"/>
          </a:xfrm>
          <a:prstGeom prst="roundRect">
            <a:avLst>
              <a:gd name="adj" fmla="val 49998"/>
            </a:avLst>
          </a:prstGeom>
          <a:solidFill>
            <a:srgbClr val="E7E3DA">
              <a:alpha val="24000"/>
            </a:srgbClr>
          </a:solidFill>
          <a:ln/>
        </p:spPr>
      </p:sp>
      <p:sp>
        <p:nvSpPr>
          <p:cNvPr id="5" name="Text 3"/>
          <p:cNvSpPr/>
          <p:nvPr/>
        </p:nvSpPr>
        <p:spPr>
          <a:xfrm>
            <a:off x="609585" y="2980334"/>
            <a:ext cx="5851974" cy="1651000"/>
          </a:xfrm>
          <a:prstGeom prst="rect">
            <a:avLst/>
          </a:prstGeom>
          <a:noFill/>
          <a:ln/>
        </p:spPr>
        <p:txBody>
          <a:bodyPr wrap="none" lIns="0" tIns="0" rIns="0" bIns="0" rtlCol="0" anchor="t"/>
          <a:lstStyle/>
          <a:p>
            <a:pPr algn="l" indent="0" marL="0">
              <a:lnSpc>
                <a:spcPct val="83000"/>
              </a:lnSpc>
              <a:buNone/>
            </a:pPr>
            <a:r>
              <a:rPr lang="en-US" sz="13000" spc="-130" kern="100" dirty="0">
                <a:solidFill>
                  <a:srgbClr val="D87346"/>
                </a:solidFill>
                <a:latin typeface="Host Grotesk Light" pitchFamily="34" charset="0"/>
                <a:ea typeface="Host Grotesk Light" pitchFamily="34" charset="-122"/>
                <a:cs typeface="Host Grotesk Light" pitchFamily="34" charset="-120"/>
              </a:rPr>
              <a:t>3,900</a:t>
            </a:r>
            <a:endParaRPr lang="en-US" sz="13000" dirty="0"/>
          </a:p>
        </p:txBody>
      </p:sp>
      <p:sp>
        <p:nvSpPr>
          <p:cNvPr id="6" name="Text 4"/>
          <p:cNvSpPr/>
          <p:nvPr/>
        </p:nvSpPr>
        <p:spPr>
          <a:xfrm>
            <a:off x="609585" y="4608155"/>
            <a:ext cx="5851974"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processed records</a:t>
            </a:r>
            <a:endParaRPr lang="en-US" sz="1700" dirty="0"/>
          </a:p>
        </p:txBody>
      </p:sp>
      <p:sp>
        <p:nvSpPr>
          <p:cNvPr id="7" name="Text 5"/>
          <p:cNvSpPr/>
          <p:nvPr/>
        </p:nvSpPr>
        <p:spPr>
          <a:xfrm>
            <a:off x="609585" y="5081191"/>
            <a:ext cx="5851974" cy="295275"/>
          </a:xfrm>
          <a:prstGeom prst="rect">
            <a:avLst/>
          </a:prstGeom>
          <a:noFill/>
          <a:ln/>
        </p:spPr>
        <p:txBody>
          <a:bodyPr wrap="none" lIns="0" tIns="0" rIns="0" bIns="0" rtlCol="0" anchor="t"/>
          <a:lstStyle/>
          <a:p>
            <a:pPr algn="l" indent="0" marL="0">
              <a:lnSpc>
                <a:spcPct val="129000"/>
              </a:lnSpc>
              <a:buNone/>
            </a:pPr>
            <a:r>
              <a:rPr lang="en-US" sz="1500" dirty="0">
                <a:solidFill>
                  <a:srgbClr val="E7E3DA"/>
                </a:solidFill>
                <a:latin typeface="Host Grotesk" pitchFamily="34" charset="0"/>
                <a:ea typeface="Host Grotesk" pitchFamily="34" charset="-122"/>
                <a:cs typeface="Host Grotesk" pitchFamily="34" charset="-120"/>
              </a:rPr>
              <a:t>Loaded into a customer table with Pandas to_sql.</a:t>
            </a:r>
            <a:endParaRPr lang="en-US" sz="1500" dirty="0"/>
          </a:p>
        </p:txBody>
      </p:sp>
      <p:sp>
        <p:nvSpPr>
          <p:cNvPr id="8" name="Shape 6"/>
          <p:cNvSpPr/>
          <p:nvPr/>
        </p:nvSpPr>
        <p:spPr>
          <a:xfrm>
            <a:off x="6461559" y="1944886"/>
            <a:ext cx="5120552" cy="4303514"/>
          </a:xfrm>
          <a:prstGeom prst="rect">
            <a:avLst/>
          </a:prstGeom>
          <a:solidFill>
            <a:srgbClr val="D5D3CC"/>
          </a:solidFill>
          <a:ln/>
        </p:spPr>
      </p:sp>
      <p:sp>
        <p:nvSpPr>
          <p:cNvPr id="9" name="Text 7"/>
          <p:cNvSpPr/>
          <p:nvPr/>
        </p:nvSpPr>
        <p:spPr>
          <a:xfrm>
            <a:off x="6893348" y="2564650"/>
            <a:ext cx="4256973" cy="1042392"/>
          </a:xfrm>
          <a:prstGeom prst="rect">
            <a:avLst/>
          </a:prstGeom>
          <a:noFill/>
          <a:ln/>
        </p:spPr>
        <p:txBody>
          <a:bodyPr wrap="none" lIns="0" tIns="0" rIns="0" bIns="0" rtlCol="0" anchor="t"/>
          <a:lstStyle/>
          <a:p>
            <a:pPr algn="l" indent="0" marL="0">
              <a:lnSpc>
                <a:spcPct val="90000"/>
              </a:lnSpc>
              <a:buNone/>
            </a:pPr>
            <a:r>
              <a:rPr lang="en-US" sz="7600" spc="-76" kern="100" dirty="0">
                <a:solidFill>
                  <a:srgbClr val="25292A"/>
                </a:solidFill>
                <a:latin typeface="Host Grotesk Light" pitchFamily="34" charset="0"/>
                <a:ea typeface="Host Grotesk Light" pitchFamily="34" charset="-122"/>
                <a:cs typeface="Host Grotesk Light" pitchFamily="34" charset="-120"/>
              </a:rPr>
              <a:t>19</a:t>
            </a:r>
            <a:endParaRPr lang="en-US" sz="7600" dirty="0"/>
          </a:p>
        </p:txBody>
      </p:sp>
      <p:sp>
        <p:nvSpPr>
          <p:cNvPr id="10" name="Text 8"/>
          <p:cNvSpPr/>
          <p:nvPr/>
        </p:nvSpPr>
        <p:spPr>
          <a:xfrm>
            <a:off x="6893348" y="3669844"/>
            <a:ext cx="4256973" cy="302220"/>
          </a:xfrm>
          <a:prstGeom prst="rect">
            <a:avLst/>
          </a:prstGeom>
          <a:noFill/>
          <a:ln/>
        </p:spPr>
        <p:txBody>
          <a:bodyPr wrap="none" lIns="0" tIns="0" rIns="0" bIns="0" rtlCol="0" anchor="t"/>
          <a:lstStyle/>
          <a:p>
            <a:pPr algn="l" indent="0" marL="0">
              <a:lnSpc>
                <a:spcPct val="117000"/>
              </a:lnSpc>
              <a:buNone/>
            </a:pPr>
            <a:r>
              <a:rPr lang="en-US" sz="1700" dirty="0">
                <a:solidFill>
                  <a:srgbClr val="25292A"/>
                </a:solidFill>
                <a:latin typeface="Host Grotesk Medium" pitchFamily="34" charset="0"/>
                <a:ea typeface="Host Grotesk Medium" pitchFamily="34" charset="-122"/>
                <a:cs typeface="Host Grotesk Medium" pitchFamily="34" charset="-120"/>
              </a:rPr>
              <a:t>final columns</a:t>
            </a:r>
            <a:endParaRPr lang="en-US" sz="1700" dirty="0"/>
          </a:p>
        </p:txBody>
      </p:sp>
      <p:sp>
        <p:nvSpPr>
          <p:cNvPr id="11" name="Text 9"/>
          <p:cNvSpPr/>
          <p:nvPr/>
        </p:nvSpPr>
        <p:spPr>
          <a:xfrm>
            <a:off x="6893348" y="4142879"/>
            <a:ext cx="4256973" cy="590550"/>
          </a:xfrm>
          <a:prstGeom prst="rect">
            <a:avLst/>
          </a:prstGeom>
          <a:noFill/>
          <a:ln/>
        </p:spPr>
        <p:txBody>
          <a:bodyPr wrap="square" lIns="0" tIns="0" rIns="0" bIns="0" rtlCol="0" anchor="t">
            <a:normAutofit/>
          </a:bodyPr>
          <a:lstStyle/>
          <a:p>
            <a:pPr algn="l" indent="0" marL="0">
              <a:lnSpc>
                <a:spcPct val="129000"/>
              </a:lnSpc>
              <a:buNone/>
            </a:pPr>
            <a:r>
              <a:rPr lang="en-US" sz="1500" dirty="0">
                <a:solidFill>
                  <a:srgbClr val="25292A"/>
                </a:solidFill>
                <a:latin typeface="Host Grotesk" pitchFamily="34" charset="0"/>
                <a:ea typeface="Host Grotesk" pitchFamily="34" charset="-122"/>
                <a:cs typeface="Host Grotesk" pitchFamily="34" charset="-120"/>
              </a:rPr>
              <a:t>Cleaned originals plus age_group and purchase_frequency_days.</a:t>
            </a:r>
            <a:endParaRPr lang="en-US" sz="1500" dirty="0"/>
          </a:p>
        </p:txBody>
      </p:sp>
      <p:sp>
        <p:nvSpPr>
          <p:cNvPr id="12" name="Shape 10"/>
          <p:cNvSpPr/>
          <p:nvPr/>
        </p:nvSpPr>
        <p:spPr>
          <a:xfrm>
            <a:off x="6893348" y="5098554"/>
            <a:ext cx="507888" cy="19050"/>
          </a:xfrm>
          <a:prstGeom prst="roundRect">
            <a:avLst>
              <a:gd name="adj" fmla="val 49999"/>
            </a:avLst>
          </a:prstGeom>
          <a:solidFill>
            <a:srgbClr val="D87346"/>
          </a:solidFill>
          <a:ln/>
        </p:spPr>
      </p:sp>
      <p:sp>
        <p:nvSpPr>
          <p:cNvPr id="13" name="Text 11"/>
          <p:cNvSpPr/>
          <p:nvPr/>
        </p:nvSpPr>
        <p:spPr>
          <a:xfrm>
            <a:off x="6893348" y="5482729"/>
            <a:ext cx="4688762" cy="223441"/>
          </a:xfrm>
          <a:prstGeom prst="rect">
            <a:avLst/>
          </a:prstGeom>
          <a:noFill/>
          <a:ln/>
        </p:spPr>
        <p:txBody>
          <a:bodyPr wrap="none" lIns="0" tIns="0" rIns="0" bIns="0" rtlCol="0" anchor="t"/>
          <a:lstStyle/>
          <a:p>
            <a:pPr algn="l" indent="0" marL="0">
              <a:lnSpc>
                <a:spcPct val="133000"/>
              </a:lnSpc>
              <a:buNone/>
            </a:pPr>
            <a:r>
              <a:rPr lang="en-US" sz="1100" spc="22" kern="100" dirty="0">
                <a:solidFill>
                  <a:srgbClr val="25292A"/>
                </a:solidFill>
                <a:latin typeface="Host Grotesk" pitchFamily="34" charset="0"/>
                <a:ea typeface="Host Grotesk" pitchFamily="34" charset="-122"/>
                <a:cs typeface="Host Grotesk" pitchFamily="34" charset="-120"/>
              </a:rPr>
              <a:t>promo_code_used removed</a:t>
            </a:r>
            <a:endParaRPr lang="en-US" sz="1100" dirty="0"/>
          </a:p>
        </p:txBody>
      </p:sp>
      <p:sp>
        <p:nvSpPr>
          <p:cNvPr id="14" name="Text 12"/>
          <p:cNvSpPr/>
          <p:nvPr/>
        </p:nvSpPr>
        <p:spPr>
          <a:xfrm>
            <a:off x="11827571" y="6449814"/>
            <a:ext cx="364124"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508000"/>
            <a:ext cx="7111822" cy="251420"/>
          </a:xfrm>
          <a:prstGeom prst="rect">
            <a:avLst/>
          </a:prstGeom>
          <a:noFill/>
          <a:ln/>
        </p:spPr>
        <p:txBody>
          <a:bodyPr wrap="none" lIns="0" tIns="0" rIns="0" bIns="0" rtlCol="0" anchor="t"/>
          <a:lstStyle/>
          <a:p>
            <a:pPr algn="l" indent="0" marL="0">
              <a:lnSpc>
                <a:spcPct val="150000"/>
              </a:lnSpc>
              <a:buNone/>
            </a:pPr>
            <a:r>
              <a:rPr lang="en-US" sz="1100" spc="110" kern="100" dirty="0">
                <a:solidFill>
                  <a:srgbClr val="A4A6A2"/>
                </a:solidFill>
                <a:latin typeface="Host Grotesk Medium" pitchFamily="34" charset="0"/>
                <a:ea typeface="Host Grotesk Medium" pitchFamily="34" charset="-122"/>
                <a:cs typeface="Host Grotesk Medium" pitchFamily="34" charset="-120"/>
              </a:rPr>
              <a:t>WHAT THE TABLE ENABLES</a:t>
            </a:r>
            <a:endParaRPr lang="en-US" sz="1100" dirty="0"/>
          </a:p>
        </p:txBody>
      </p:sp>
      <p:sp>
        <p:nvSpPr>
          <p:cNvPr id="3" name="Text 1"/>
          <p:cNvSpPr/>
          <p:nvPr/>
        </p:nvSpPr>
        <p:spPr>
          <a:xfrm>
            <a:off x="609585" y="884515"/>
            <a:ext cx="6553036" cy="853281"/>
          </a:xfrm>
          <a:prstGeom prst="rect">
            <a:avLst/>
          </a:prstGeom>
          <a:noFill/>
          <a:ln/>
        </p:spPr>
        <p:txBody>
          <a:bodyPr wrap="square" lIns="0" tIns="0" rIns="0" bIns="0" rtlCol="0" anchor="t">
            <a:normAutofit/>
          </a:bodyPr>
          <a:lstStyle/>
          <a:p>
            <a:pPr algn="l" indent="0" marL="0">
              <a:lnSpc>
                <a:spcPct val="93000"/>
              </a:lnSpc>
              <a:buNone/>
            </a:pPr>
            <a:r>
              <a:rPr lang="en-US" sz="3000" spc="-15" kern="100" dirty="0">
                <a:solidFill>
                  <a:srgbClr val="E7E3DA"/>
                </a:solidFill>
                <a:latin typeface="Host Grotesk Light" pitchFamily="34" charset="0"/>
                <a:ea typeface="Host Grotesk Light" pitchFamily="34" charset="-122"/>
                <a:cs typeface="Host Grotesk Light" pitchFamily="34" charset="-120"/>
              </a:rPr>
              <a:t>The table supports practical customer questions</a:t>
            </a:r>
            <a:endParaRPr lang="en-US" sz="3000" dirty="0"/>
          </a:p>
        </p:txBody>
      </p:sp>
      <p:sp>
        <p:nvSpPr>
          <p:cNvPr id="4" name="Shape 2"/>
          <p:cNvSpPr/>
          <p:nvPr/>
        </p:nvSpPr>
        <p:spPr>
          <a:xfrm>
            <a:off x="609585" y="1995289"/>
            <a:ext cx="6553036" cy="12601"/>
          </a:xfrm>
          <a:prstGeom prst="roundRect">
            <a:avLst>
              <a:gd name="adj" fmla="val 49998"/>
            </a:avLst>
          </a:prstGeom>
          <a:solidFill>
            <a:srgbClr val="E7E3DA">
              <a:alpha val="24000"/>
            </a:srgbClr>
          </a:solidFill>
          <a:ln/>
        </p:spPr>
      </p:sp>
      <p:sp>
        <p:nvSpPr>
          <p:cNvPr id="5" name="Text 3"/>
          <p:cNvSpPr/>
          <p:nvPr/>
        </p:nvSpPr>
        <p:spPr>
          <a:xfrm>
            <a:off x="609585" y="2301974"/>
            <a:ext cx="1104872" cy="381000"/>
          </a:xfrm>
          <a:prstGeom prst="rect">
            <a:avLst/>
          </a:prstGeom>
          <a:noFill/>
          <a:ln/>
        </p:spPr>
        <p:txBody>
          <a:bodyPr wrap="none" lIns="0" tIns="0" rIns="0" bIns="0" rtlCol="0" anchor="t"/>
          <a:lstStyle/>
          <a:p>
            <a:pPr algn="l" indent="0" marL="0">
              <a:lnSpc>
                <a:spcPct val="83000"/>
              </a:lnSpc>
              <a:buNone/>
            </a:pPr>
            <a:r>
              <a:rPr lang="en-US" sz="3000" dirty="0">
                <a:solidFill>
                  <a:srgbClr val="A4A6A2"/>
                </a:solidFill>
                <a:latin typeface="Host Grotesk SemiBold" pitchFamily="34" charset="0"/>
                <a:ea typeface="Host Grotesk SemiBold" pitchFamily="34" charset="-122"/>
                <a:cs typeface="Host Grotesk SemiBold" pitchFamily="34" charset="-120"/>
              </a:rPr>
              <a:t>01</a:t>
            </a:r>
            <a:endParaRPr lang="en-US" sz="3000" dirty="0"/>
          </a:p>
        </p:txBody>
      </p:sp>
      <p:sp>
        <p:nvSpPr>
          <p:cNvPr id="6" name="Text 4"/>
          <p:cNvSpPr/>
          <p:nvPr/>
        </p:nvSpPr>
        <p:spPr>
          <a:xfrm>
            <a:off x="1295368" y="2372162"/>
            <a:ext cx="5867253"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Compare revenue</a:t>
            </a:r>
            <a:endParaRPr lang="en-US" sz="1700" dirty="0"/>
          </a:p>
        </p:txBody>
      </p:sp>
      <p:sp>
        <p:nvSpPr>
          <p:cNvPr id="7" name="Text 5"/>
          <p:cNvSpPr/>
          <p:nvPr/>
        </p:nvSpPr>
        <p:spPr>
          <a:xfrm>
            <a:off x="1295368" y="2845197"/>
            <a:ext cx="5867253" cy="255885"/>
          </a:xfrm>
          <a:prstGeom prst="rect">
            <a:avLst/>
          </a:prstGeom>
          <a:noFill/>
          <a:ln/>
        </p:spPr>
        <p:txBody>
          <a:bodyPr wrap="none" lIns="0" tIns="0" rIns="0" bIns="0" rtlCol="0" anchor="t"/>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By gender, shipping type, subscription status, and age group.</a:t>
            </a:r>
            <a:endParaRPr lang="en-US" sz="1300" dirty="0"/>
          </a:p>
        </p:txBody>
      </p:sp>
      <p:sp>
        <p:nvSpPr>
          <p:cNvPr id="8" name="Text 6"/>
          <p:cNvSpPr/>
          <p:nvPr/>
        </p:nvSpPr>
        <p:spPr>
          <a:xfrm>
            <a:off x="609585" y="3234730"/>
            <a:ext cx="1104872" cy="381000"/>
          </a:xfrm>
          <a:prstGeom prst="rect">
            <a:avLst/>
          </a:prstGeom>
          <a:noFill/>
          <a:ln/>
        </p:spPr>
        <p:txBody>
          <a:bodyPr wrap="none" lIns="0" tIns="0" rIns="0" bIns="0" rtlCol="0" anchor="t"/>
          <a:lstStyle/>
          <a:p>
            <a:pPr algn="l" indent="0" marL="0">
              <a:lnSpc>
                <a:spcPct val="83000"/>
              </a:lnSpc>
              <a:buNone/>
            </a:pPr>
            <a:r>
              <a:rPr lang="en-US" sz="3000" dirty="0">
                <a:solidFill>
                  <a:srgbClr val="A4A6A2"/>
                </a:solidFill>
                <a:latin typeface="Host Grotesk SemiBold" pitchFamily="34" charset="0"/>
                <a:ea typeface="Host Grotesk SemiBold" pitchFamily="34" charset="-122"/>
                <a:cs typeface="Host Grotesk SemiBold" pitchFamily="34" charset="-120"/>
              </a:rPr>
              <a:t>02</a:t>
            </a:r>
            <a:endParaRPr lang="en-US" sz="3000" dirty="0"/>
          </a:p>
        </p:txBody>
      </p:sp>
      <p:sp>
        <p:nvSpPr>
          <p:cNvPr id="9" name="Text 7"/>
          <p:cNvSpPr/>
          <p:nvPr/>
        </p:nvSpPr>
        <p:spPr>
          <a:xfrm>
            <a:off x="1295368" y="3304917"/>
            <a:ext cx="5867253"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Find product signals</a:t>
            </a:r>
            <a:endParaRPr lang="en-US" sz="1700" dirty="0"/>
          </a:p>
        </p:txBody>
      </p:sp>
      <p:sp>
        <p:nvSpPr>
          <p:cNvPr id="10" name="Text 8"/>
          <p:cNvSpPr/>
          <p:nvPr/>
        </p:nvSpPr>
        <p:spPr>
          <a:xfrm>
            <a:off x="1295368" y="3777952"/>
            <a:ext cx="5867253" cy="511770"/>
          </a:xfrm>
          <a:prstGeom prst="rect">
            <a:avLst/>
          </a:prstGeom>
          <a:noFill/>
          <a:ln/>
        </p:spPr>
        <p:txBody>
          <a:bodyPr wrap="square" lIns="0" tIns="0" rIns="0" bIns="0" rtlCol="0" anchor="t">
            <a:normAutofit/>
          </a:bodyPr>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High-rated products, discount-heavy products, and top products within each category.</a:t>
            </a:r>
            <a:endParaRPr lang="en-US" sz="1300" dirty="0"/>
          </a:p>
        </p:txBody>
      </p:sp>
      <p:sp>
        <p:nvSpPr>
          <p:cNvPr id="11" name="Text 9"/>
          <p:cNvSpPr/>
          <p:nvPr/>
        </p:nvSpPr>
        <p:spPr>
          <a:xfrm>
            <a:off x="609585" y="4423370"/>
            <a:ext cx="1104872" cy="381000"/>
          </a:xfrm>
          <a:prstGeom prst="rect">
            <a:avLst/>
          </a:prstGeom>
          <a:noFill/>
          <a:ln/>
        </p:spPr>
        <p:txBody>
          <a:bodyPr wrap="none" lIns="0" tIns="0" rIns="0" bIns="0" rtlCol="0" anchor="t"/>
          <a:lstStyle/>
          <a:p>
            <a:pPr algn="l" indent="0" marL="0">
              <a:lnSpc>
                <a:spcPct val="83000"/>
              </a:lnSpc>
              <a:buNone/>
            </a:pPr>
            <a:r>
              <a:rPr lang="en-US" sz="3000" dirty="0">
                <a:solidFill>
                  <a:srgbClr val="A4A6A2"/>
                </a:solidFill>
                <a:latin typeface="Host Grotesk SemiBold" pitchFamily="34" charset="0"/>
                <a:ea typeface="Host Grotesk SemiBold" pitchFamily="34" charset="-122"/>
                <a:cs typeface="Host Grotesk SemiBold" pitchFamily="34" charset="-120"/>
              </a:rPr>
              <a:t>03</a:t>
            </a:r>
            <a:endParaRPr lang="en-US" sz="3000" dirty="0"/>
          </a:p>
        </p:txBody>
      </p:sp>
      <p:sp>
        <p:nvSpPr>
          <p:cNvPr id="12" name="Text 10"/>
          <p:cNvSpPr/>
          <p:nvPr/>
        </p:nvSpPr>
        <p:spPr>
          <a:xfrm>
            <a:off x="1295368" y="4493558"/>
            <a:ext cx="5867253" cy="302220"/>
          </a:xfrm>
          <a:prstGeom prst="rect">
            <a:avLst/>
          </a:prstGeom>
          <a:noFill/>
          <a:ln/>
        </p:spPr>
        <p:txBody>
          <a:bodyPr wrap="none" lIns="0" tIns="0" rIns="0" bIns="0" rtlCol="0" anchor="t"/>
          <a:lstStyle/>
          <a:p>
            <a:pPr algn="l" indent="0" marL="0">
              <a:lnSpc>
                <a:spcPct val="117000"/>
              </a:lnSpc>
              <a:buNone/>
            </a:pPr>
            <a:r>
              <a:rPr lang="en-US" sz="1700" dirty="0">
                <a:solidFill>
                  <a:srgbClr val="E7E3DA"/>
                </a:solidFill>
                <a:latin typeface="Host Grotesk Medium" pitchFamily="34" charset="0"/>
                <a:ea typeface="Host Grotesk Medium" pitchFamily="34" charset="-122"/>
                <a:cs typeface="Host Grotesk Medium" pitchFamily="34" charset="-120"/>
              </a:rPr>
              <a:t>Segment loyalty</a:t>
            </a:r>
            <a:endParaRPr lang="en-US" sz="1700" dirty="0"/>
          </a:p>
        </p:txBody>
      </p:sp>
      <p:sp>
        <p:nvSpPr>
          <p:cNvPr id="13" name="Text 11"/>
          <p:cNvSpPr/>
          <p:nvPr/>
        </p:nvSpPr>
        <p:spPr>
          <a:xfrm>
            <a:off x="1295368" y="4966593"/>
            <a:ext cx="5867253" cy="255885"/>
          </a:xfrm>
          <a:prstGeom prst="rect">
            <a:avLst/>
          </a:prstGeom>
          <a:noFill/>
          <a:ln/>
        </p:spPr>
        <p:txBody>
          <a:bodyPr wrap="none" lIns="0" tIns="0" rIns="0" bIns="0" rtlCol="0" anchor="t"/>
          <a:lstStyle/>
          <a:p>
            <a:pPr algn="l" indent="0" marL="0">
              <a:lnSpc>
                <a:spcPct val="129000"/>
              </a:lnSpc>
              <a:buNone/>
            </a:pPr>
            <a:r>
              <a:rPr lang="en-US" sz="1300" dirty="0">
                <a:solidFill>
                  <a:srgbClr val="E7E3DA"/>
                </a:solidFill>
                <a:latin typeface="Host Grotesk" pitchFamily="34" charset="0"/>
                <a:ea typeface="Host Grotesk" pitchFamily="34" charset="-122"/>
                <a:cs typeface="Host Grotesk" pitchFamily="34" charset="-120"/>
              </a:rPr>
              <a:t>New, returning, and loyal customers, then repeat-buyer subscription patterns.</a:t>
            </a:r>
            <a:endParaRPr lang="en-US" sz="1300" dirty="0"/>
          </a:p>
        </p:txBody>
      </p:sp>
      <p:pic>
        <p:nvPicPr>
          <p:cNvPr id="14" name="Image 0" descr="preencoded.png">    </p:cNvPr>
          <p:cNvPicPr>
            <a:picLocks noChangeAspect="1"/>
          </p:cNvPicPr>
          <p:nvPr/>
        </p:nvPicPr>
        <p:blipFill>
          <a:blip r:embed="rId1"/>
          <a:stretch>
            <a:fillRect/>
          </a:stretch>
        </p:blipFill>
        <p:spPr>
          <a:xfrm>
            <a:off x="7721407" y="0"/>
            <a:ext cx="4470288" cy="6858000"/>
          </a:xfrm>
          <a:prstGeom prst="rect">
            <a:avLst/>
          </a:prstGeom>
        </p:spPr>
      </p:pic>
      <p:sp>
        <p:nvSpPr>
          <p:cNvPr id="15" name="Text 12"/>
          <p:cNvSpPr/>
          <p:nvPr/>
        </p:nvSpPr>
        <p:spPr>
          <a:xfrm>
            <a:off x="190594" y="6449814"/>
            <a:ext cx="783015" cy="206673"/>
          </a:xfrm>
          <a:prstGeom prst="rect">
            <a:avLst/>
          </a:prstGeom>
          <a:noFill/>
          <a:ln/>
        </p:spPr>
        <p:txBody>
          <a:bodyPr wrap="none" lIns="0" tIns="0" rIns="0" bIns="0" rtlCol="0" anchor="ctr"/>
          <a:lstStyle/>
          <a:p>
            <a:pPr algn="l" indent="0" marL="0">
              <a:lnSpc>
                <a:spcPct val="129000"/>
              </a:lnSpc>
              <a:buNone/>
            </a:pPr>
            <a:r>
              <a:rPr lang="en-US" sz="1050" dirty="0">
                <a:solidFill>
                  <a:srgbClr val="A4A6A2"/>
                </a:solidFill>
                <a:latin typeface="Host Grotesk" pitchFamily="34" charset="0"/>
                <a:ea typeface="Host Grotesk" pitchFamily="34" charset="-122"/>
                <a:cs typeface="Host Grotesk" pitchFamily="34" charset="-120"/>
              </a:rPr>
              <a:t>10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2026-10-20T11:59:48Z</dcterms:created>
  <dcterms:modified xsi:type="dcterms:W3CDTF">2026-10-20T11:59:48Z</dcterms:modified>
</cp:coreProperties>
</file>